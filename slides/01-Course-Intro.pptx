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62" r:id="rId5"/>
    <p:sldId id="263" r:id="rId6"/>
    <p:sldId id="331" r:id="rId7"/>
    <p:sldId id="330" r:id="rId8"/>
    <p:sldId id="329" r:id="rId9"/>
  </p:sldIdLst>
  <p:sldSz cx="9906000" cy="6858000" type="A4"/>
  <p:notesSz cx="7086600" cy="102219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9C8F0"/>
    <a:srgbClr val="0000FF"/>
    <a:srgbClr val="C8CDFF"/>
    <a:srgbClr val="BEFFBE"/>
    <a:srgbClr val="FFD2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0" autoAdjust="0"/>
    <p:restoredTop sz="86410" autoAdjust="0"/>
  </p:normalViewPr>
  <p:slideViewPr>
    <p:cSldViewPr>
      <p:cViewPr varScale="1">
        <p:scale>
          <a:sx n="53" d="100"/>
          <a:sy n="53" d="100"/>
        </p:scale>
        <p:origin x="168" y="191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220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4788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CBFC2FC-AB15-4A86-A090-42EA9D9D8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7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 noChangeArrowheads="1"/>
          </p:cNvSpPr>
          <p:nvPr/>
        </p:nvSpPr>
        <p:spPr bwMode="auto">
          <a:xfrm>
            <a:off x="0" y="0"/>
            <a:ext cx="7086600" cy="102219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014788" y="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776288" y="766763"/>
            <a:ext cx="5532437" cy="3830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8025" y="4856163"/>
            <a:ext cx="5668963" cy="45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70915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014788" y="970915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05325CD-D4D1-46AB-A07B-76CAD4A152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329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B24E597-641E-4831-92E7-FE32F3EB8DD0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/>
              <a:t>1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1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4700" y="766763"/>
            <a:ext cx="5537200" cy="38338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70550" cy="45989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8902" tIns="49451" rIns="98902" bIns="49451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8DBB98B8-15ED-3D41-809D-AB83AB6F561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98800FA-E8D7-8F4C-A144-87CC0C4B39B1}" type="slidenum">
              <a:rPr lang="en-GB" altLang="en-US" sz="13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</a:t>
            </a:fld>
            <a:endParaRPr lang="en-GB" altLang="en-US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7" name="Text Box 1">
            <a:extLst>
              <a:ext uri="{FF2B5EF4-FFF2-40B4-BE49-F238E27FC236}">
                <a16:creationId xmlns:a16="http://schemas.microsoft.com/office/drawing/2014/main" id="{6026B793-306A-5148-8A7E-B8EF30F9A30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776288" y="766763"/>
            <a:ext cx="5532437" cy="3830637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218" name="Text Box 2">
            <a:extLst>
              <a:ext uri="{FF2B5EF4-FFF2-40B4-BE49-F238E27FC236}">
                <a16:creationId xmlns:a16="http://schemas.microsoft.com/office/drawing/2014/main" id="{0BBCFADD-83B5-8644-8CBF-B4F771EFF5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68963" cy="45989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62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AA5FB-1A88-4438-BFBB-9BBB90E53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17CFC-9530-4DD8-A082-6933CE16E3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15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FDBB7-AE6C-44A4-9354-E420422B6D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53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3431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0200"/>
            <a:ext cx="437515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91112-9BC8-4B82-B6DA-AD3952AEF2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6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2EFEF-B460-41E1-B380-21E0D72C1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8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5FF55-9A51-49BC-91F0-BC8E688F1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DF69-52E3-48D5-99E7-63105AE4C1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FB47-FC34-470D-975D-818673632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4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56B33-355B-4F00-98F1-AAA0DA53B9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5734D-DD4C-4AFE-A48C-C042F044E4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61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7814"/>
            <a:ext cx="2227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7814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8A648-AA13-472B-B8F8-A061FAD948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77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31D7C-3F02-481D-A2CB-CE756043E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9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999C5-CA01-4C37-9A77-0BC9D4DCC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3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ECA9A-3BFE-4494-AE79-033AB3181B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93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3431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4964"/>
            <a:ext cx="437515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55E91-4FFC-497B-9460-CB8D1F1E6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726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5E714-687B-490B-BC5F-848B0211A5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46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A0F8F-584F-4FE6-8B99-D18FEFDE60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65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BC1AD-34F6-412E-A983-7210815D51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905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BC6ED-34ED-4D17-86C5-68EFDB043C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26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58291-C605-4591-98C4-EA212E382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96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961CE-61F8-4BC5-8BB3-B0A0F0B4C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8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685800"/>
            <a:ext cx="2227131" cy="5443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685800"/>
            <a:ext cx="6521450" cy="5443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37626-AC2C-4FBA-AD1A-B46461F8D7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56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685801"/>
            <a:ext cx="8418381" cy="21256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173BD-EAA9-43F3-A181-9BB25AB1E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18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7814"/>
            <a:ext cx="8913681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3681" cy="452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28229" y="6524626"/>
            <a:ext cx="23096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393149" y="6524626"/>
            <a:ext cx="31351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137136" y="6524626"/>
            <a:ext cx="2309681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D170E260-D032-4AF5-A4B0-E2382247C2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95300" y="1447800"/>
            <a:ext cx="8750300" cy="1588"/>
          </a:xfrm>
          <a:prstGeom prst="line">
            <a:avLst/>
          </a:prstGeom>
          <a:noFill/>
          <a:ln w="19080">
            <a:solidFill>
              <a:srgbClr val="0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85801"/>
            <a:ext cx="8418381" cy="212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95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384550" y="6248401"/>
            <a:ext cx="31351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Font typeface="Verdana" pitchFamily="3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7099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EBBAEC79-F64B-4999-8F10-F75F3E166C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2054" name="Object 5"/>
          <p:cNvGraphicFramePr>
            <a:graphicFrameLocks noChangeAspect="1"/>
          </p:cNvGraphicFramePr>
          <p:nvPr/>
        </p:nvGraphicFramePr>
        <p:xfrm>
          <a:off x="271728" y="2924176"/>
          <a:ext cx="928343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591552" imgH="391770" progId="">
                  <p:embed/>
                </p:oleObj>
              </mc:Choice>
              <mc:Fallback>
                <p:oleObj r:id="rId14" imgW="7591552" imgH="39177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28" y="2924176"/>
                        <a:ext cx="9283435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4"/>
            <a:ext cx="8913681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test-driven-development-what-it-is-and-what-it-is-not-41fa6bca02a2/" TargetMode="External"/><Relationship Id="rId2" Type="http://schemas.openxmlformats.org/officeDocument/2006/relationships/hyperlink" Target="https://www.guru99.com/test-driven-development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refactoring.com/" TargetMode="External"/><Relationship Id="rId4" Type="http://schemas.openxmlformats.org/officeDocument/2006/relationships/hyperlink" Target="https://www.jetbrains.com/help/idea/tdd-with-intellij-idea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B317A-B09E-4609-B950-7F75FB78108D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3075" name="Rectangle 1"/>
          <p:cNvSpPr>
            <a:spLocks noGrp="1" noChangeArrowheads="1"/>
          </p:cNvSpPr>
          <p:nvPr>
            <p:ph type="title"/>
          </p:nvPr>
        </p:nvSpPr>
        <p:spPr>
          <a:xfrm>
            <a:off x="704851" y="692150"/>
            <a:ext cx="8424863" cy="2127250"/>
          </a:xfrm>
        </p:spPr>
        <p:txBody>
          <a:bodyPr/>
          <a:lstStyle/>
          <a:p>
            <a:pPr algn="ctr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TDD Primer</a:t>
            </a:r>
            <a:br>
              <a:rPr lang="en-GB" dirty="0"/>
            </a:br>
            <a:r>
              <a:rPr lang="en-GB" dirty="0"/>
              <a:t>Welcome &amp; Introductions</a:t>
            </a: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752600" y="3270250"/>
            <a:ext cx="6400800" cy="2209800"/>
          </a:xfrm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000" dirty="0"/>
              <a:t>Kevin Cunningham</a:t>
            </a:r>
          </a:p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3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3297B-A3AD-894C-ABA5-CC60C83D6B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21/11/2022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31CDB-74C2-064B-9CA1-3895C1ECE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Course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BFA2D1-81D0-F447-A61F-EC2EB3870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467" y="4716518"/>
            <a:ext cx="2046514" cy="11477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79E693-FA4E-F946-A189-48B473C223DE}"/>
              </a:ext>
            </a:extLst>
          </p:cNvPr>
          <p:cNvSpPr txBox="1"/>
          <p:nvPr/>
        </p:nvSpPr>
        <p:spPr>
          <a:xfrm>
            <a:off x="518620" y="5290371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48BAE3-47A8-594B-B546-57ECADE77084}"/>
              </a:ext>
            </a:extLst>
          </p:cNvPr>
          <p:cNvGrpSpPr/>
          <p:nvPr/>
        </p:nvGrpSpPr>
        <p:grpSpPr>
          <a:xfrm>
            <a:off x="3296816" y="4023461"/>
            <a:ext cx="3513057" cy="1790130"/>
            <a:chOff x="5585706" y="2164251"/>
            <a:chExt cx="3513057" cy="179013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DDD9613-AD59-C148-B5E8-55BBAF2E96FE}"/>
                </a:ext>
              </a:extLst>
            </p:cNvPr>
            <p:cNvSpPr/>
            <p:nvPr/>
          </p:nvSpPr>
          <p:spPr bwMode="auto">
            <a:xfrm>
              <a:off x="6564797" y="2778124"/>
              <a:ext cx="1646853" cy="965479"/>
            </a:xfrm>
            <a:prstGeom prst="ellipse">
              <a:avLst/>
            </a:prstGeom>
            <a:solidFill>
              <a:srgbClr val="E9C8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TDD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BF09C12-E38C-894E-BDB6-A87DD39066A6}"/>
                </a:ext>
              </a:extLst>
            </p:cNvPr>
            <p:cNvSpPr/>
            <p:nvPr/>
          </p:nvSpPr>
          <p:spPr bwMode="auto">
            <a:xfrm>
              <a:off x="6742324" y="2164251"/>
              <a:ext cx="1280423" cy="739369"/>
            </a:xfrm>
            <a:prstGeom prst="ellipse">
              <a:avLst/>
            </a:prstGeom>
            <a:solidFill>
              <a:srgbClr val="FFD2C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Red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6DC23C4-8045-FF4C-B048-1B0C67BCAB96}"/>
                </a:ext>
              </a:extLst>
            </p:cNvPr>
            <p:cNvSpPr/>
            <p:nvPr/>
          </p:nvSpPr>
          <p:spPr bwMode="auto">
            <a:xfrm>
              <a:off x="7818340" y="3215012"/>
              <a:ext cx="1280423" cy="739369"/>
            </a:xfrm>
            <a:prstGeom prst="ellipse">
              <a:avLst/>
            </a:prstGeom>
            <a:solidFill>
              <a:srgbClr val="BEFFB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00B050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Green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8FD35D9-E38C-CF47-8CF1-D9CF1B9E697A}"/>
                </a:ext>
              </a:extLst>
            </p:cNvPr>
            <p:cNvSpPr/>
            <p:nvPr/>
          </p:nvSpPr>
          <p:spPr bwMode="auto">
            <a:xfrm>
              <a:off x="5585706" y="3215012"/>
              <a:ext cx="1280423" cy="739369"/>
            </a:xfrm>
            <a:prstGeom prst="ellipse">
              <a:avLst/>
            </a:prstGeom>
            <a:solidFill>
              <a:srgbClr val="C8CD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Refactor</a:t>
              </a:r>
            </a:p>
          </p:txBody>
        </p:sp>
        <p:cxnSp>
          <p:nvCxnSpPr>
            <p:cNvPr id="23" name="Curved Connector 22">
              <a:extLst>
                <a:ext uri="{FF2B5EF4-FFF2-40B4-BE49-F238E27FC236}">
                  <a16:creationId xmlns:a16="http://schemas.microsoft.com/office/drawing/2014/main" id="{17D6AA79-DDAA-534E-916B-3E95E602EE7F}"/>
                </a:ext>
              </a:extLst>
            </p:cNvPr>
            <p:cNvCxnSpPr>
              <a:stCxn id="20" idx="6"/>
              <a:endCxn id="21" idx="0"/>
            </p:cNvCxnSpPr>
            <p:nvPr/>
          </p:nvCxnSpPr>
          <p:spPr bwMode="auto">
            <a:xfrm>
              <a:off x="8022747" y="2533936"/>
              <a:ext cx="435805" cy="681076"/>
            </a:xfrm>
            <a:prstGeom prst="curvedConnector2">
              <a:avLst/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Curved Connector 23">
              <a:extLst>
                <a:ext uri="{FF2B5EF4-FFF2-40B4-BE49-F238E27FC236}">
                  <a16:creationId xmlns:a16="http://schemas.microsoft.com/office/drawing/2014/main" id="{E5829A8E-99C7-8944-880B-A019F23E111B}"/>
                </a:ext>
              </a:extLst>
            </p:cNvPr>
            <p:cNvCxnSpPr>
              <a:stCxn id="22" idx="0"/>
              <a:endCxn id="20" idx="2"/>
            </p:cNvCxnSpPr>
            <p:nvPr/>
          </p:nvCxnSpPr>
          <p:spPr bwMode="auto">
            <a:xfrm rot="5400000" flipH="1" flipV="1">
              <a:off x="6143583" y="2616271"/>
              <a:ext cx="681076" cy="516406"/>
            </a:xfrm>
            <a:prstGeom prst="curvedConnector2">
              <a:avLst/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9DB29C64-B7BB-E34A-87CA-551B009603E8}"/>
                </a:ext>
              </a:extLst>
            </p:cNvPr>
            <p:cNvCxnSpPr>
              <a:stCxn id="21" idx="3"/>
              <a:endCxn id="22" idx="5"/>
            </p:cNvCxnSpPr>
            <p:nvPr/>
          </p:nvCxnSpPr>
          <p:spPr bwMode="auto">
            <a:xfrm rot="5400000">
              <a:off x="7342235" y="3182484"/>
              <a:ext cx="12700" cy="1327239"/>
            </a:xfrm>
            <a:prstGeom prst="curvedConnector3">
              <a:avLst>
                <a:gd name="adj1" fmla="val 2652583"/>
              </a:avLst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58880AA-7E92-2449-95F4-BBBC08F14B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GB" sz="1100"/>
              <a:t>21/11/2022</a:t>
            </a:r>
            <a:endParaRPr lang="en-US" sz="11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B18D72-D3A4-204F-A322-3D441896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algn="ctr">
              <a:defRPr/>
            </a:pPr>
            <a:r>
              <a:rPr lang="en-US" sz="1100"/>
              <a:t>Course Overview</a:t>
            </a:r>
            <a:endParaRPr lang="en-US" sz="11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656AFD-8C0D-3343-9931-FDD195F2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E59EACE-6EE9-BE44-9F14-8E6B0AAFB3C8}" type="slidenum">
              <a:rPr lang="en-US" altLang="en-US" sz="1100">
                <a:solidFill>
                  <a:srgbClr val="000000"/>
                </a:solidFill>
              </a:rPr>
              <a:pPr algn="r"/>
              <a:t>2</a:t>
            </a:fld>
            <a:endParaRPr lang="en-US" altLang="en-US" sz="1100">
              <a:solidFill>
                <a:srgbClr val="000000"/>
              </a:solidFill>
            </a:endParaRPr>
          </a:p>
        </p:txBody>
      </p:sp>
      <p:sp>
        <p:nvSpPr>
          <p:cNvPr id="5121" name="Rectangle 1">
            <a:extLst>
              <a:ext uri="{FF2B5EF4-FFF2-40B4-BE49-F238E27FC236}">
                <a16:creationId xmlns:a16="http://schemas.microsoft.com/office/drawing/2014/main" id="{1CD58AE9-C593-814A-AA06-9A7B9067B8B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8201" y="277814"/>
            <a:ext cx="8228013" cy="1138237"/>
          </a:xfrm>
        </p:spPr>
        <p:txBody>
          <a:bodyPr/>
          <a:lstStyle/>
          <a:p>
            <a:pPr eaLnBrk="1" hangingPunct="1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/>
              <a:t>Introductions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81D8595E-9351-B848-940D-27FC4FA7734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1" y="1600200"/>
            <a:ext cx="8228013" cy="4529138"/>
          </a:xfrm>
        </p:spPr>
        <p:txBody>
          <a:bodyPr/>
          <a:lstStyle/>
          <a:p>
            <a:pP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Course Instructor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Kevin Cunningham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Course attendees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You…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/>
              <a:t>Name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/>
              <a:t>Professional Position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/>
              <a:t>Programming Experience / Languages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/>
              <a:t>TDD Experience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dirty="0"/>
              <a:t>Motivation and Expectations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3D192-B6A0-8A4C-B262-3AF72330B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296" y="512924"/>
            <a:ext cx="1540644" cy="74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144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B72B5-B02D-B84E-80CA-E7208D0D01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 altLang="en-US"/>
              <a:t>21/11/2022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ACC2E-851B-774D-88A6-B2D0C58F91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en-US"/>
              <a:t>Course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C0D10-80C2-C047-931C-AC0E57451F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06AFC2-C12F-5648-B7C5-2DD893C43717}" type="slidenum">
              <a:rPr lang="en-GB" altLang="en-US"/>
              <a:pPr/>
              <a:t>3</a:t>
            </a:fld>
            <a:endParaRPr lang="en-GB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9162055D-B1B9-8541-9828-F79040C221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Course Content 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AB4194B-5932-3F49-B1D5-29A2E95D7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0707" y="1531994"/>
            <a:ext cx="8821003" cy="5026805"/>
          </a:xfrm>
        </p:spPr>
        <p:txBody>
          <a:bodyPr/>
          <a:lstStyle/>
          <a:p>
            <a:pPr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Course is technology agnostic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altLang="en-US" sz="2000" dirty="0"/>
              <a:t>You bring own experience from your technology</a:t>
            </a:r>
          </a:p>
          <a:p>
            <a:pPr>
              <a:lnSpc>
                <a:spcPct val="135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Course objectives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en-US" sz="2000" dirty="0"/>
              <a:t>Provide understanding and some practical experience in TDD</a:t>
            </a:r>
          </a:p>
          <a:p>
            <a:pP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this course we are looking at:</a:t>
            </a:r>
            <a:endParaRPr lang="en-GB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sz="2000" dirty="0"/>
              <a:t>What TDD is?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sz="2000" dirty="0"/>
              <a:t>Why use a TDD approach?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sz="2000" dirty="0"/>
              <a:t>What are TDD Katas?</a:t>
            </a:r>
          </a:p>
          <a:p>
            <a:pPr lvl="2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sz="1800" dirty="0"/>
              <a:t>and why use them to help learn TDD</a:t>
            </a:r>
          </a:p>
          <a:p>
            <a:pPr lvl="1"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en-US" sz="2000" dirty="0"/>
              <a:t>TDD and Refactoring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F16E4A-3BA7-B54A-B657-6970C8246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F41332D-7BA6-2B46-A3AA-0016CDEF3737}"/>
              </a:ext>
            </a:extLst>
          </p:cNvPr>
          <p:cNvGrpSpPr/>
          <p:nvPr/>
        </p:nvGrpSpPr>
        <p:grpSpPr>
          <a:xfrm>
            <a:off x="6390048" y="3658915"/>
            <a:ext cx="3318591" cy="1728192"/>
            <a:chOff x="5585706" y="2164251"/>
            <a:chExt cx="3513057" cy="179013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B1232F6-6FC7-7943-9C4A-404F34FBB3D2}"/>
                </a:ext>
              </a:extLst>
            </p:cNvPr>
            <p:cNvSpPr/>
            <p:nvPr/>
          </p:nvSpPr>
          <p:spPr bwMode="auto">
            <a:xfrm>
              <a:off x="6564797" y="2778124"/>
              <a:ext cx="1646853" cy="965479"/>
            </a:xfrm>
            <a:prstGeom prst="ellipse">
              <a:avLst/>
            </a:prstGeom>
            <a:solidFill>
              <a:srgbClr val="E9C8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TDD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912E5B8-CC4E-9C43-BB6F-E5FE766EDD5A}"/>
                </a:ext>
              </a:extLst>
            </p:cNvPr>
            <p:cNvSpPr/>
            <p:nvPr/>
          </p:nvSpPr>
          <p:spPr bwMode="auto">
            <a:xfrm>
              <a:off x="6742324" y="2164251"/>
              <a:ext cx="1280423" cy="739369"/>
            </a:xfrm>
            <a:prstGeom prst="ellipse">
              <a:avLst/>
            </a:prstGeom>
            <a:solidFill>
              <a:srgbClr val="FFD2C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Red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DFFF740-9E5D-564A-BA1C-8DFC4BEF2E5B}"/>
                </a:ext>
              </a:extLst>
            </p:cNvPr>
            <p:cNvSpPr/>
            <p:nvPr/>
          </p:nvSpPr>
          <p:spPr bwMode="auto">
            <a:xfrm>
              <a:off x="7818340" y="3215012"/>
              <a:ext cx="1280423" cy="739369"/>
            </a:xfrm>
            <a:prstGeom prst="ellipse">
              <a:avLst/>
            </a:prstGeom>
            <a:solidFill>
              <a:srgbClr val="BEFFB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00B050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Green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520F295-B541-EA4D-97D1-36C240F17709}"/>
                </a:ext>
              </a:extLst>
            </p:cNvPr>
            <p:cNvSpPr/>
            <p:nvPr/>
          </p:nvSpPr>
          <p:spPr bwMode="auto">
            <a:xfrm>
              <a:off x="5585706" y="3215012"/>
              <a:ext cx="1280423" cy="739369"/>
            </a:xfrm>
            <a:prstGeom prst="ellipse">
              <a:avLst/>
            </a:prstGeom>
            <a:solidFill>
              <a:srgbClr val="C8CD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  <a:ea typeface="Arial Unicode MS" pitchFamily="34" charset="-128"/>
                  <a:cs typeface="Arial Unicode MS" pitchFamily="34" charset="-128"/>
                </a:rPr>
                <a:t>Refactor</a:t>
              </a:r>
            </a:p>
          </p:txBody>
        </p: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1A88FB72-BFCC-A24C-BAAB-F27C0A7B0D29}"/>
                </a:ext>
              </a:extLst>
            </p:cNvPr>
            <p:cNvCxnSpPr>
              <a:stCxn id="33" idx="6"/>
              <a:endCxn id="34" idx="0"/>
            </p:cNvCxnSpPr>
            <p:nvPr/>
          </p:nvCxnSpPr>
          <p:spPr bwMode="auto">
            <a:xfrm>
              <a:off x="8022747" y="2533936"/>
              <a:ext cx="435805" cy="681076"/>
            </a:xfrm>
            <a:prstGeom prst="curvedConnector2">
              <a:avLst/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28D527A2-DD58-5349-BFA9-88D819FD7DE1}"/>
                </a:ext>
              </a:extLst>
            </p:cNvPr>
            <p:cNvCxnSpPr>
              <a:stCxn id="35" idx="0"/>
              <a:endCxn id="33" idx="2"/>
            </p:cNvCxnSpPr>
            <p:nvPr/>
          </p:nvCxnSpPr>
          <p:spPr bwMode="auto">
            <a:xfrm rot="5400000" flipH="1" flipV="1">
              <a:off x="6143583" y="2616271"/>
              <a:ext cx="681076" cy="516406"/>
            </a:xfrm>
            <a:prstGeom prst="curvedConnector2">
              <a:avLst/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2741545F-A7CE-0044-A152-582473A0ECC0}"/>
                </a:ext>
              </a:extLst>
            </p:cNvPr>
            <p:cNvCxnSpPr>
              <a:stCxn id="34" idx="3"/>
              <a:endCxn id="35" idx="5"/>
            </p:cNvCxnSpPr>
            <p:nvPr/>
          </p:nvCxnSpPr>
          <p:spPr bwMode="auto">
            <a:xfrm rot="5400000">
              <a:off x="7342235" y="3182484"/>
              <a:ext cx="12700" cy="1327239"/>
            </a:xfrm>
            <a:prstGeom prst="curvedConnector3">
              <a:avLst>
                <a:gd name="adj1" fmla="val 2652583"/>
              </a:avLst>
            </a:prstGeom>
            <a:solidFill>
              <a:srgbClr val="00B8FF"/>
            </a:solidFill>
            <a:ln w="698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66417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5009" y="1885490"/>
            <a:ext cx="5673321" cy="4343092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GB" sz="2000" b="1" dirty="0"/>
              <a:t>Learning Test-Driven Development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Saleem Siddiqui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O’Reilly, 2021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ISBN 1098106474 </a:t>
            </a:r>
          </a:p>
          <a:p>
            <a:pPr>
              <a:lnSpc>
                <a:spcPct val="100000"/>
              </a:lnSpc>
              <a:buNone/>
            </a:pPr>
            <a:endParaRPr lang="en-GB" sz="2000" b="1" dirty="0"/>
          </a:p>
          <a:p>
            <a:pPr>
              <a:lnSpc>
                <a:spcPct val="100000"/>
              </a:lnSpc>
              <a:buNone/>
            </a:pPr>
            <a:r>
              <a:rPr lang="en-GB" sz="2000" b="1" dirty="0"/>
              <a:t>Test-Driven Development: By Example 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Kent Beck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Addison-Wesley, 2003</a:t>
            </a:r>
          </a:p>
          <a:p>
            <a:pPr>
              <a:lnSpc>
                <a:spcPct val="100000"/>
              </a:lnSpc>
              <a:buNone/>
            </a:pPr>
            <a:r>
              <a:rPr lang="en-GB" sz="1800" dirty="0"/>
              <a:t>ISBN 0-321-14653-0</a:t>
            </a:r>
            <a:endParaRPr lang="en-US" sz="28700" dirty="0">
              <a:solidFill>
                <a:srgbClr val="0000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CBAEB91-AE8A-2646-BB49-865D1FDA0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8585" y="3933057"/>
            <a:ext cx="1831975" cy="2295525"/>
          </a:xfrm>
          <a:prstGeom prst="rect">
            <a:avLst/>
          </a:prstGeom>
          <a:noFill/>
          <a:ln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348DED-2C72-2742-A436-BD7E4A0DF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782" y="1484784"/>
            <a:ext cx="1844342" cy="23945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9690D1-D7B9-194F-94D5-66E1632D2712}"/>
              </a:ext>
            </a:extLst>
          </p:cNvPr>
          <p:cNvSpPr txBox="1"/>
          <p:nvPr/>
        </p:nvSpPr>
        <p:spPr>
          <a:xfrm>
            <a:off x="8121352" y="779243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79579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520" y="4639706"/>
            <a:ext cx="8913681" cy="1476202"/>
          </a:xfrm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2000" b="1" dirty="0"/>
              <a:t>Refactoring: Improving the Design of Existing Code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800" dirty="0"/>
              <a:t>Martin Fowler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800" dirty="0"/>
              <a:t>Addison-Wesley, 2019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GB" sz="1800" dirty="0"/>
              <a:t>ISBN 0134757599</a:t>
            </a:r>
            <a:endParaRPr lang="en-US" sz="23900" dirty="0">
              <a:solidFill>
                <a:srgbClr val="0000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93DF2-080E-4049-B02B-4FF258F22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55" y="1591050"/>
            <a:ext cx="2131909" cy="26399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913F56-18A5-3B4A-8C1F-10C2F54841C7}"/>
              </a:ext>
            </a:extLst>
          </p:cNvPr>
          <p:cNvSpPr txBox="1"/>
          <p:nvPr/>
        </p:nvSpPr>
        <p:spPr>
          <a:xfrm>
            <a:off x="8121352" y="779243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65983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Resources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Guru99</a:t>
            </a:r>
          </a:p>
          <a:p>
            <a:pPr lvl="1"/>
            <a:r>
              <a:rPr lang="en-GB" sz="2000" dirty="0">
                <a:hlinkClick r:id="rId2"/>
              </a:rPr>
              <a:t>https://www.guru99.com/test-driven-development.html</a:t>
            </a:r>
            <a:r>
              <a:rPr lang="en-GB" sz="2000" dirty="0"/>
              <a:t> </a:t>
            </a:r>
          </a:p>
          <a:p>
            <a:r>
              <a:rPr lang="en-GB" sz="2400" dirty="0"/>
              <a:t>TDD Free Code Camp</a:t>
            </a:r>
          </a:p>
          <a:p>
            <a:pPr lvl="1"/>
            <a:r>
              <a:rPr lang="en-GB" sz="2000" dirty="0">
                <a:solidFill>
                  <a:schemeClr val="accent2"/>
                </a:solidFill>
                <a:hlinkClick r:id="rId3"/>
              </a:rPr>
              <a:t>https://www.freecodecamp.org/news/test-driven-development-what-it-is-and-what-it-is-not-41fa6bca02a2/</a:t>
            </a:r>
            <a:endParaRPr lang="en-GB" sz="2000" dirty="0">
              <a:solidFill>
                <a:schemeClr val="accent2"/>
              </a:solidFill>
            </a:endParaRPr>
          </a:p>
          <a:p>
            <a:r>
              <a:rPr lang="en-AU" sz="2400" dirty="0"/>
              <a:t>JetBrains TDD Tutorial</a:t>
            </a:r>
          </a:p>
          <a:p>
            <a:pPr lvl="1"/>
            <a:r>
              <a:rPr lang="en-AU" sz="2000" dirty="0">
                <a:hlinkClick r:id="rId4"/>
              </a:rPr>
              <a:t>https://www.jetbrains.com/help/idea/tdd-with-intellij-idea.html</a:t>
            </a:r>
            <a:r>
              <a:rPr lang="en-AU" sz="2000" dirty="0"/>
              <a:t> </a:t>
            </a:r>
          </a:p>
          <a:p>
            <a:r>
              <a:rPr lang="en-AU" sz="2400" dirty="0" err="1"/>
              <a:t>Refactoring.com</a:t>
            </a:r>
            <a:endParaRPr lang="en-AU" sz="2400" dirty="0"/>
          </a:p>
          <a:p>
            <a:pPr lvl="1"/>
            <a:r>
              <a:rPr lang="en-AU" sz="2000" dirty="0">
                <a:hlinkClick r:id="rId5"/>
              </a:rPr>
              <a:t>http://www.refactoring.com/</a:t>
            </a:r>
            <a:endParaRPr lang="en-US" sz="23900" dirty="0">
              <a:solidFill>
                <a:srgbClr val="0000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F1410-AC7C-7A4E-A9E0-58F3F6FC7CD5}"/>
              </a:ext>
            </a:extLst>
          </p:cNvPr>
          <p:cNvSpPr txBox="1"/>
          <p:nvPr/>
        </p:nvSpPr>
        <p:spPr>
          <a:xfrm>
            <a:off x="8121352" y="779243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0146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3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Course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77477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229</Words>
  <Application>Microsoft Macintosh PowerPoint</Application>
  <PresentationFormat>A4 Paper (210x297 mm)</PresentationFormat>
  <Paragraphs>85</Paragraphs>
  <Slides>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Garamond</vt:lpstr>
      <vt:lpstr>Times New Roman</vt:lpstr>
      <vt:lpstr>Verdana</vt:lpstr>
      <vt:lpstr>Wingdings</vt:lpstr>
      <vt:lpstr>Default Design</vt:lpstr>
      <vt:lpstr>1_Default Design</vt:lpstr>
      <vt:lpstr>TDD Primer Welcome &amp; Introductions</vt:lpstr>
      <vt:lpstr>Introductions</vt:lpstr>
      <vt:lpstr>Course Content </vt:lpstr>
      <vt:lpstr>Books</vt:lpstr>
      <vt:lpstr>Books</vt:lpstr>
      <vt:lpstr>Web Resources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jh</dc:creator>
  <cp:lastModifiedBy>Kevin Cunningham</cp:lastModifiedBy>
  <cp:revision>109</cp:revision>
  <cp:lastPrinted>2020-10-27T16:10:47Z</cp:lastPrinted>
  <dcterms:modified xsi:type="dcterms:W3CDTF">2026-03-26T09:09:43Z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2026-03-26T07:14:47Z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25c2369c-f8ca-4920-943e-08e256ac6d61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