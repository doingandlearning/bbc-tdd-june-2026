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9"/>
  </p:notesMasterIdLst>
  <p:handoutMasterIdLst>
    <p:handoutMasterId r:id="rId20"/>
  </p:handoutMasterIdLst>
  <p:sldIdLst>
    <p:sldId id="256" r:id="rId3"/>
    <p:sldId id="327" r:id="rId4"/>
    <p:sldId id="266" r:id="rId5"/>
    <p:sldId id="330" r:id="rId6"/>
    <p:sldId id="268" r:id="rId7"/>
    <p:sldId id="335" r:id="rId8"/>
    <p:sldId id="269" r:id="rId9"/>
    <p:sldId id="333" r:id="rId10"/>
    <p:sldId id="332" r:id="rId11"/>
    <p:sldId id="334" r:id="rId12"/>
    <p:sldId id="312" r:id="rId13"/>
    <p:sldId id="270" r:id="rId14"/>
    <p:sldId id="317" r:id="rId15"/>
    <p:sldId id="329" r:id="rId16"/>
    <p:sldId id="263" r:id="rId17"/>
    <p:sldId id="336" r:id="rId18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BEFFBE"/>
    <a:srgbClr val="C8CDFF"/>
    <a:srgbClr val="FFC4C8"/>
    <a:srgbClr val="D7AF78"/>
    <a:srgbClr val="EBD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81" autoAdjust="0"/>
    <p:restoredTop sz="97118" autoAdjust="0"/>
  </p:normalViewPr>
  <p:slideViewPr>
    <p:cSldViewPr>
      <p:cViewPr varScale="1">
        <p:scale>
          <a:sx n="91" d="100"/>
          <a:sy n="91" d="100"/>
        </p:scale>
        <p:origin x="208" y="11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3" d="100"/>
        <a:sy n="103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64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FF"/>
                </a:solidFill>
              </a:rPr>
              <a:t>S</a:t>
            </a:r>
            <a:r>
              <a:rPr lang="en-GB" dirty="0"/>
              <a:t> – Single Responsibility Principle</a:t>
            </a:r>
          </a:p>
          <a:p>
            <a:r>
              <a:rPr lang="en-GB" b="1" dirty="0">
                <a:solidFill>
                  <a:srgbClr val="0000FF"/>
                </a:solidFill>
              </a:rPr>
              <a:t>O</a:t>
            </a:r>
            <a:r>
              <a:rPr lang="en-GB" dirty="0"/>
              <a:t> – Open-Closed Principle</a:t>
            </a:r>
          </a:p>
          <a:p>
            <a:r>
              <a:rPr lang="en-GB" b="1" dirty="0">
                <a:solidFill>
                  <a:srgbClr val="0000FF"/>
                </a:solidFill>
              </a:rPr>
              <a:t>L</a:t>
            </a:r>
            <a:r>
              <a:rPr lang="en-GB" dirty="0"/>
              <a:t> – </a:t>
            </a:r>
            <a:r>
              <a:rPr lang="en-GB" dirty="0" err="1"/>
              <a:t>Liskov</a:t>
            </a:r>
            <a:r>
              <a:rPr lang="en-GB" dirty="0"/>
              <a:t> Substitution Principle</a:t>
            </a:r>
          </a:p>
          <a:p>
            <a:r>
              <a:rPr lang="en-GB" b="1" dirty="0">
                <a:solidFill>
                  <a:srgbClr val="0000FF"/>
                </a:solidFill>
              </a:rPr>
              <a:t>I</a:t>
            </a:r>
            <a:r>
              <a:rPr lang="en-GB" dirty="0"/>
              <a:t> – Interface Segregation Principle</a:t>
            </a:r>
          </a:p>
          <a:p>
            <a:r>
              <a:rPr lang="en-GB" b="1" dirty="0">
                <a:solidFill>
                  <a:srgbClr val="0000FF"/>
                </a:solidFill>
              </a:rPr>
              <a:t>D</a:t>
            </a:r>
            <a:r>
              <a:rPr lang="en-GB" dirty="0"/>
              <a:t> – Dependency Inversion Principle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93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925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640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89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982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882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325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33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619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920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F6AE42F-97FF-445E-A074-91788C1F8A9C}" type="slidenum">
              <a:rPr lang="en-GB"/>
              <a:pPr/>
              <a:t>14</a:t>
            </a:fld>
            <a:endParaRPr lang="en-GB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774700" y="766763"/>
            <a:ext cx="5537200" cy="38338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44880" y="4855409"/>
            <a:ext cx="5196840" cy="460163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81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TDD</a:t>
            </a:r>
            <a:br>
              <a:rPr lang="en-GB" dirty="0"/>
            </a:br>
            <a:r>
              <a:rPr lang="en-GB" dirty="0"/>
              <a:t>Development Cycle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559B0-09AF-4D42-9DFF-66C971817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284" y="4677313"/>
            <a:ext cx="2101602" cy="125358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Test Driven Development Cycle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TDD Mantra: red / green / refactor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Three Rules of TDD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Test Style / Complexity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Tests Drive the Development!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TDD is about Design!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Design Evolution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of TDD Benefits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82391-0B65-3D45-83B8-9D3479DF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8C9A4F-610D-E319-8BE1-74387869C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60" y="3284984"/>
            <a:ext cx="2059052" cy="122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80CC-E201-0449-9CCF-19B2B0D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Cycle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E8068-23F8-AA46-8F00-21F4A72586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10F9-DD84-044E-9157-4F715B31E3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6BE1-674A-3C48-8715-915F11DFEB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9172E5-624D-F04A-86C0-2B5B97B22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840" y="1700808"/>
            <a:ext cx="2590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Write a test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987356C-4B63-DC4C-BD0C-DB998944A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402" y="2743795"/>
            <a:ext cx="2590800" cy="792163"/>
          </a:xfrm>
          <a:prstGeom prst="rect">
            <a:avLst/>
          </a:prstGeom>
          <a:solidFill>
            <a:srgbClr val="EBDC9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Microsoft Sans Serif" pitchFamily="34" charset="0"/>
              </a:rPr>
              <a:t>Compile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03022A7-D967-EB41-BA1E-7D0C4A9F1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402" y="3824883"/>
            <a:ext cx="2592388" cy="792162"/>
          </a:xfrm>
          <a:prstGeom prst="rect">
            <a:avLst/>
          </a:prstGeom>
          <a:solidFill>
            <a:srgbClr val="D7AF7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Fix compile errors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7C40391-9B8D-DF41-B3A8-A57397E0F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402" y="5048845"/>
            <a:ext cx="2592388" cy="792163"/>
          </a:xfrm>
          <a:prstGeom prst="rect">
            <a:avLst/>
          </a:prstGeom>
          <a:solidFill>
            <a:srgbClr val="FFC4C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Run test,</a:t>
            </a:r>
            <a:br>
              <a:rPr lang="en-GB" dirty="0">
                <a:solidFill>
                  <a:schemeClr val="tx1"/>
                </a:solidFill>
                <a:latin typeface="Microsoft Sans Serif" pitchFamily="34" charset="0"/>
              </a:rPr>
            </a:br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watch it fail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EF8EE737-3B0F-9F40-BD93-9FE44799A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690" y="5048845"/>
            <a:ext cx="2592387" cy="790575"/>
          </a:xfrm>
          <a:prstGeom prst="rect">
            <a:avLst/>
          </a:prstGeom>
          <a:solidFill>
            <a:srgbClr val="C8CD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Write code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0E28F8CD-1F71-B845-87F4-319A3C0D0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690" y="3824883"/>
            <a:ext cx="2592387" cy="792162"/>
          </a:xfrm>
          <a:prstGeom prst="rect">
            <a:avLst/>
          </a:prstGeom>
          <a:solidFill>
            <a:srgbClr val="BEFFB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Run test, </a:t>
            </a:r>
            <a:br>
              <a:rPr lang="en-GB" dirty="0">
                <a:solidFill>
                  <a:schemeClr val="tx1"/>
                </a:solidFill>
                <a:latin typeface="Microsoft Sans Serif" pitchFamily="34" charset="0"/>
              </a:rPr>
            </a:br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watch it pass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4C136A1-81EE-4A49-90B6-71D5D359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690" y="2743795"/>
            <a:ext cx="2592387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Refactor code</a:t>
            </a:r>
            <a:br>
              <a:rPr lang="en-GB" dirty="0">
                <a:solidFill>
                  <a:schemeClr val="tx1"/>
                </a:solidFill>
                <a:latin typeface="Microsoft Sans Serif" pitchFamily="34" charset="0"/>
              </a:rPr>
            </a:br>
            <a:r>
              <a:rPr lang="en-GB" dirty="0">
                <a:solidFill>
                  <a:schemeClr val="tx1"/>
                </a:solidFill>
                <a:latin typeface="Microsoft Sans Serif" pitchFamily="34" charset="0"/>
              </a:rPr>
              <a:t>(production and test)</a:t>
            </a:r>
          </a:p>
        </p:txBody>
      </p:sp>
      <p:cxnSp>
        <p:nvCxnSpPr>
          <p:cNvPr id="14" name="AutoShape 11">
            <a:extLst>
              <a:ext uri="{FF2B5EF4-FFF2-40B4-BE49-F238E27FC236}">
                <a16:creationId xmlns:a16="http://schemas.microsoft.com/office/drawing/2014/main" id="{55F3D8E2-1B5B-7046-97E0-9199DB6A18F0}"/>
              </a:ext>
            </a:extLst>
          </p:cNvPr>
          <p:cNvCxnSpPr>
            <a:cxnSpLocks noChangeShapeType="1"/>
            <a:stCxn id="7" idx="3"/>
            <a:endCxn id="8" idx="0"/>
          </p:cNvCxnSpPr>
          <p:nvPr/>
        </p:nvCxnSpPr>
        <p:spPr bwMode="auto">
          <a:xfrm>
            <a:off x="6103640" y="2024658"/>
            <a:ext cx="792162" cy="719137"/>
          </a:xfrm>
          <a:prstGeom prst="curvedConnector2">
            <a:avLst/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2">
            <a:extLst>
              <a:ext uri="{FF2B5EF4-FFF2-40B4-BE49-F238E27FC236}">
                <a16:creationId xmlns:a16="http://schemas.microsoft.com/office/drawing/2014/main" id="{511F1177-FB18-A24B-B581-18B8315EEF02}"/>
              </a:ext>
            </a:extLst>
          </p:cNvPr>
          <p:cNvCxnSpPr>
            <a:cxnSpLocks noChangeShapeType="1"/>
            <a:stCxn id="8" idx="3"/>
            <a:endCxn id="9" idx="3"/>
          </p:cNvCxnSpPr>
          <p:nvPr/>
        </p:nvCxnSpPr>
        <p:spPr bwMode="auto">
          <a:xfrm>
            <a:off x="8191202" y="3140670"/>
            <a:ext cx="1588" cy="1081088"/>
          </a:xfrm>
          <a:prstGeom prst="curvedConnector3">
            <a:avLst>
              <a:gd name="adj1" fmla="val 14500000"/>
            </a:avLst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3">
            <a:extLst>
              <a:ext uri="{FF2B5EF4-FFF2-40B4-BE49-F238E27FC236}">
                <a16:creationId xmlns:a16="http://schemas.microsoft.com/office/drawing/2014/main" id="{14B52258-9ABB-0A4A-B9A9-1E94C916F1E5}"/>
              </a:ext>
            </a:extLst>
          </p:cNvPr>
          <p:cNvCxnSpPr>
            <a:cxnSpLocks noChangeShapeType="1"/>
            <a:stCxn id="9" idx="3"/>
            <a:endCxn id="10" idx="3"/>
          </p:cNvCxnSpPr>
          <p:nvPr/>
        </p:nvCxnSpPr>
        <p:spPr bwMode="auto">
          <a:xfrm>
            <a:off x="8192790" y="4221758"/>
            <a:ext cx="1587" cy="1223962"/>
          </a:xfrm>
          <a:prstGeom prst="curvedConnector3">
            <a:avLst>
              <a:gd name="adj1" fmla="val 14400000"/>
            </a:avLst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14">
            <a:extLst>
              <a:ext uri="{FF2B5EF4-FFF2-40B4-BE49-F238E27FC236}">
                <a16:creationId xmlns:a16="http://schemas.microsoft.com/office/drawing/2014/main" id="{1C3C84D8-816D-0345-B893-E6946D0F3866}"/>
              </a:ext>
            </a:extLst>
          </p:cNvPr>
          <p:cNvCxnSpPr>
            <a:cxnSpLocks noChangeShapeType="1"/>
            <a:stCxn id="10" idx="2"/>
            <a:endCxn id="11" idx="2"/>
          </p:cNvCxnSpPr>
          <p:nvPr/>
        </p:nvCxnSpPr>
        <p:spPr bwMode="auto">
          <a:xfrm rot="16200000" flipV="1">
            <a:off x="4808240" y="3751857"/>
            <a:ext cx="1588" cy="4176713"/>
          </a:xfrm>
          <a:prstGeom prst="curvedConnector3">
            <a:avLst>
              <a:gd name="adj1" fmla="val -39300000"/>
            </a:avLst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5">
            <a:extLst>
              <a:ext uri="{FF2B5EF4-FFF2-40B4-BE49-F238E27FC236}">
                <a16:creationId xmlns:a16="http://schemas.microsoft.com/office/drawing/2014/main" id="{B8277276-E976-AE45-B384-2F008CC266D7}"/>
              </a:ext>
            </a:extLst>
          </p:cNvPr>
          <p:cNvCxnSpPr>
            <a:cxnSpLocks noChangeShapeType="1"/>
            <a:stCxn id="11" idx="1"/>
            <a:endCxn id="12" idx="1"/>
          </p:cNvCxnSpPr>
          <p:nvPr/>
        </p:nvCxnSpPr>
        <p:spPr bwMode="auto">
          <a:xfrm rot="10800000" flipH="1">
            <a:off x="1423690" y="4221758"/>
            <a:ext cx="1587" cy="1222375"/>
          </a:xfrm>
          <a:prstGeom prst="curvedConnector3">
            <a:avLst>
              <a:gd name="adj1" fmla="val -14400000"/>
            </a:avLst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6">
            <a:extLst>
              <a:ext uri="{FF2B5EF4-FFF2-40B4-BE49-F238E27FC236}">
                <a16:creationId xmlns:a16="http://schemas.microsoft.com/office/drawing/2014/main" id="{6640023E-7C35-3A4C-9A62-E7241FC4D0BE}"/>
              </a:ext>
            </a:extLst>
          </p:cNvPr>
          <p:cNvCxnSpPr>
            <a:cxnSpLocks noChangeShapeType="1"/>
            <a:stCxn id="12" idx="1"/>
            <a:endCxn id="13" idx="1"/>
          </p:cNvCxnSpPr>
          <p:nvPr/>
        </p:nvCxnSpPr>
        <p:spPr bwMode="auto">
          <a:xfrm rot="10800000" flipH="1">
            <a:off x="1423690" y="3140670"/>
            <a:ext cx="1587" cy="1081088"/>
          </a:xfrm>
          <a:prstGeom prst="curvedConnector3">
            <a:avLst>
              <a:gd name="adj1" fmla="val -14400000"/>
            </a:avLst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2553E47A-6AAA-4040-AE88-4F2914F20E4C}"/>
              </a:ext>
            </a:extLst>
          </p:cNvPr>
          <p:cNvCxnSpPr>
            <a:cxnSpLocks noChangeShapeType="1"/>
            <a:stCxn id="13" idx="0"/>
            <a:endCxn id="7" idx="1"/>
          </p:cNvCxnSpPr>
          <p:nvPr/>
        </p:nvCxnSpPr>
        <p:spPr bwMode="auto">
          <a:xfrm rot="5400000" flipH="1" flipV="1">
            <a:off x="2756794" y="1987749"/>
            <a:ext cx="719137" cy="792956"/>
          </a:xfrm>
          <a:prstGeom prst="curvedConnector2">
            <a:avLst/>
          </a:prstGeom>
          <a:noFill/>
          <a:ln w="603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69C973-69E1-F1F7-9BBC-C3BEA25636B6}"/>
              </a:ext>
            </a:extLst>
          </p:cNvPr>
          <p:cNvSpPr txBox="1"/>
          <p:nvPr/>
        </p:nvSpPr>
        <p:spPr>
          <a:xfrm>
            <a:off x="1275316" y="1973897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Rerun all tests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DE792E-2110-FEA4-040A-EA5E34201AC6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DA4EF23-A3AE-571C-0F7F-DFB81BBA29FF}"/>
              </a:ext>
            </a:extLst>
          </p:cNvPr>
          <p:cNvSpPr/>
          <p:nvPr/>
        </p:nvSpPr>
        <p:spPr bwMode="auto">
          <a:xfrm>
            <a:off x="7041232" y="1700808"/>
            <a:ext cx="2592288" cy="792088"/>
          </a:xfrm>
          <a:prstGeom prst="round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rPr>
              <a:t>Create test list</a:t>
            </a:r>
          </a:p>
        </p:txBody>
      </p:sp>
    </p:spTree>
    <p:extLst>
      <p:ext uri="{BB962C8B-B14F-4D97-AF65-F5344CB8AC3E}">
        <p14:creationId xmlns:p14="http://schemas.microsoft.com/office/powerpoint/2010/main" val="10110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" grpId="0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F9A3-CD44-474A-A0E3-5F609361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3EDB8-6E5B-BE4E-96EF-EC02D043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42474"/>
            <a:ext cx="8913681" cy="5082152"/>
          </a:xfrm>
        </p:spPr>
        <p:txBody>
          <a:bodyPr/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Write a single test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Compile it.  It shouldn’t compile because you’ve not written the implementation code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Implement </a:t>
            </a:r>
            <a:r>
              <a:rPr lang="en-GB" sz="2300" dirty="0">
                <a:solidFill>
                  <a:schemeClr val="accent2"/>
                </a:solidFill>
              </a:rPr>
              <a:t>just enough</a:t>
            </a:r>
            <a:r>
              <a:rPr lang="en-GB" sz="2300" dirty="0"/>
              <a:t> code to get the test to compile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Run the test and see it </a:t>
            </a:r>
            <a:r>
              <a:rPr lang="en-GB" sz="2300" b="1" dirty="0">
                <a:solidFill>
                  <a:srgbClr val="FF0000"/>
                </a:solidFill>
              </a:rPr>
              <a:t>Fail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Implement </a:t>
            </a:r>
            <a:r>
              <a:rPr lang="en-GB" sz="2300" dirty="0">
                <a:solidFill>
                  <a:schemeClr val="accent2"/>
                </a:solidFill>
              </a:rPr>
              <a:t>just enough</a:t>
            </a:r>
            <a:r>
              <a:rPr lang="en-GB" sz="2300" dirty="0"/>
              <a:t> code to get the test to pass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Run the test and see it </a:t>
            </a:r>
            <a:r>
              <a:rPr lang="en-GB" sz="2300" b="1" dirty="0">
                <a:solidFill>
                  <a:srgbClr val="00CC00"/>
                </a:solidFill>
              </a:rPr>
              <a:t>Pass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b="1" dirty="0">
                <a:solidFill>
                  <a:srgbClr val="0000FF"/>
                </a:solidFill>
              </a:rPr>
              <a:t>Refactor</a:t>
            </a:r>
            <a:r>
              <a:rPr lang="en-GB" sz="2300" dirty="0"/>
              <a:t> for clarity and best practice </a:t>
            </a:r>
          </a:p>
          <a:p>
            <a:pPr marL="857250" lvl="1" indent="-457200"/>
            <a:r>
              <a:rPr lang="en-GB" sz="1900" dirty="0"/>
              <a:t>e.g. SOLID principles, “once and only once” etc.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GB" sz="2300" dirty="0"/>
              <a:t>Repeat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92BE7-C20B-8D49-97AA-6A0CB90542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54AEC-551B-F641-873B-99E80F4F9A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21B8-57CD-3040-9018-6E1667125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BBC88-D25F-3F46-963B-C0D5E6EED27A}"/>
              </a:ext>
            </a:extLst>
          </p:cNvPr>
          <p:cNvSpPr txBox="1"/>
          <p:nvPr/>
        </p:nvSpPr>
        <p:spPr>
          <a:xfrm>
            <a:off x="8291976" y="667224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473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5DB7-02AA-F04E-9CF8-06F7BE11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Mantra: Red/Green/Refactor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B2C2-E97B-5941-93CE-1D9199EE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Leads to the Red / Green / Refactor cycle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FAD5-4602-9243-8AF3-97D7B70507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18FCB-0B8C-F242-BDBF-5C05058C18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35096-49FC-F64F-86A9-64B53F217B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9BCEA-8011-3046-A45E-1E8905623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95" y="2708920"/>
            <a:ext cx="4587336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9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5DB7-02AA-F04E-9CF8-06F7BE11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Mantra: Red/Green/Refactor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B2C2-E97B-5941-93CE-1D9199EE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phase focusses on different aspect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FAD5-4602-9243-8AF3-97D7B70507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18FCB-0B8C-F242-BDBF-5C05058C18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35096-49FC-F64F-86A9-64B53F217B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9BCEA-8011-3046-A45E-1E8905623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95" y="2708920"/>
            <a:ext cx="4587336" cy="2736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B0D46D-BB99-D63C-26C7-47F9BBAE0B21}"/>
              </a:ext>
            </a:extLst>
          </p:cNvPr>
          <p:cNvSpPr txBox="1"/>
          <p:nvPr/>
        </p:nvSpPr>
        <p:spPr>
          <a:xfrm>
            <a:off x="4520952" y="2348880"/>
            <a:ext cx="131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Write Tests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AE8E4-F21D-6D0F-17A7-C2550EBA9497}"/>
              </a:ext>
            </a:extLst>
          </p:cNvPr>
          <p:cNvSpPr txBox="1"/>
          <p:nvPr/>
        </p:nvSpPr>
        <p:spPr>
          <a:xfrm>
            <a:off x="7063172" y="5061341"/>
            <a:ext cx="133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Write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3B3D7D-C3AD-A893-28A4-4F74A5BFD01F}"/>
              </a:ext>
            </a:extLst>
          </p:cNvPr>
          <p:cNvSpPr txBox="1"/>
          <p:nvPr/>
        </p:nvSpPr>
        <p:spPr>
          <a:xfrm>
            <a:off x="1526161" y="5108942"/>
            <a:ext cx="1941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Improve All Code</a:t>
            </a:r>
          </a:p>
        </p:txBody>
      </p:sp>
    </p:spTree>
    <p:extLst>
      <p:ext uri="{BB962C8B-B14F-4D97-AF65-F5344CB8AC3E}">
        <p14:creationId xmlns:p14="http://schemas.microsoft.com/office/powerpoint/2010/main" val="131456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8D13-5329-914E-B5EF-92DB4641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Rules of TDD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DB66-E89F-A142-B6DF-E3C6054DC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772816"/>
            <a:ext cx="9282237" cy="4529138"/>
          </a:xfrm>
        </p:spPr>
        <p:txBody>
          <a:bodyPr/>
          <a:lstStyle/>
          <a:p>
            <a:pPr>
              <a:buSzPct val="99000"/>
              <a:buFontTx/>
              <a:buAutoNum type="arabicPeriod"/>
            </a:pPr>
            <a:r>
              <a:rPr lang="en-US" sz="2400" dirty="0"/>
              <a:t>You are </a:t>
            </a:r>
            <a:r>
              <a:rPr lang="en-US" sz="2400" i="1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allowed to write any </a:t>
            </a:r>
            <a:r>
              <a:rPr lang="en-US" sz="2400" i="1" dirty="0"/>
              <a:t>more of a unit test</a:t>
            </a:r>
            <a:r>
              <a:rPr lang="en-US" sz="2400" dirty="0"/>
              <a:t> than is sufficient to fail</a:t>
            </a:r>
          </a:p>
          <a:p>
            <a:pPr>
              <a:buSzPct val="99000"/>
              <a:buFontTx/>
              <a:buAutoNum type="arabicPeriod"/>
            </a:pPr>
            <a:r>
              <a:rPr lang="en-US" sz="2400" dirty="0"/>
              <a:t>You are </a:t>
            </a:r>
            <a:r>
              <a:rPr lang="en-US" sz="2400" i="1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allowed to </a:t>
            </a:r>
            <a:r>
              <a:rPr lang="en-US" sz="2400" i="1" dirty="0"/>
              <a:t>modify / update </a:t>
            </a:r>
            <a:r>
              <a:rPr lang="en-US" sz="2400" dirty="0"/>
              <a:t>any production code unless it is to make a failing unit test pass</a:t>
            </a:r>
          </a:p>
          <a:p>
            <a:pPr>
              <a:buSzPct val="99000"/>
              <a:buFontTx/>
              <a:buAutoNum type="arabicPeriod"/>
            </a:pPr>
            <a:r>
              <a:rPr lang="en-US" sz="2400" dirty="0"/>
              <a:t>You are </a:t>
            </a:r>
            <a:r>
              <a:rPr lang="en-US" sz="2400" i="1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allowed to write any </a:t>
            </a:r>
            <a:r>
              <a:rPr lang="en-US" sz="2400" i="1" dirty="0"/>
              <a:t>new</a:t>
            </a:r>
            <a:r>
              <a:rPr lang="en-US" sz="2400" dirty="0"/>
              <a:t> production code than is sufficient to pass the one failing unit test</a:t>
            </a:r>
          </a:p>
          <a:p>
            <a:pPr marL="0" indent="0">
              <a:buSzPct val="99000"/>
              <a:buNone/>
            </a:pPr>
            <a:endParaRPr lang="en-US" sz="2000" dirty="0"/>
          </a:p>
          <a:p>
            <a:r>
              <a:rPr lang="en-US" sz="2000" dirty="0">
                <a:solidFill>
                  <a:srgbClr val="80808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Robert C. Martin (aka Uncle Bob)</a:t>
            </a:r>
          </a:p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http://</a:t>
            </a:r>
            <a:r>
              <a:rPr 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butunclebob.com</a:t>
            </a:r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/</a:t>
            </a:r>
            <a:r>
              <a:rPr 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ArticleS.UncleBob.TheThreeRulesOfTdd</a:t>
            </a:r>
            <a:endParaRPr lang="en-US" sz="2000" u="sng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79CA1-A7C4-2D41-88B8-03BB82878A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01EED-3567-D04E-9429-6DBBD09C24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0898-09BB-E04A-A898-52939ABA7F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pic>
        <p:nvPicPr>
          <p:cNvPr id="3074" name="Picture 2" descr="Cambridge Law Studio Limited | LinkedIn">
            <a:extLst>
              <a:ext uri="{FF2B5EF4-FFF2-40B4-BE49-F238E27FC236}">
                <a16:creationId xmlns:a16="http://schemas.microsoft.com/office/drawing/2014/main" id="{85A9CBCC-6339-E440-BAE3-8B494F5B7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362075"/>
            <a:ext cx="1053976" cy="105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55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90E8A-3605-D040-9A9E-5D38FBAEF48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384550" y="6601425"/>
            <a:ext cx="3135180" cy="333375"/>
          </a:xfrm>
        </p:spPr>
        <p:txBody>
          <a:bodyPr/>
          <a:lstStyle/>
          <a:p>
            <a:pPr>
              <a:defRPr/>
            </a:pPr>
            <a:r>
              <a:rPr lang="en-GB" dirty="0"/>
              <a:t>TDD Dev Cycle</a:t>
            </a:r>
          </a:p>
        </p:txBody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372757"/>
            <a:ext cx="8570914" cy="4397797"/>
          </a:xfrm>
        </p:spPr>
        <p:txBody>
          <a:bodyPr/>
          <a:lstStyle/>
          <a:p>
            <a:r>
              <a:rPr lang="en-GB" sz="2400" dirty="0"/>
              <a:t>Do the simplest thing</a:t>
            </a:r>
          </a:p>
          <a:p>
            <a:pPr lvl="1"/>
            <a:r>
              <a:rPr lang="en-GB" sz="2000" dirty="0"/>
              <a:t>“</a:t>
            </a:r>
            <a:r>
              <a:rPr lang="en-GB" sz="2000" dirty="0">
                <a:solidFill>
                  <a:srgbClr val="7030A0"/>
                </a:solidFill>
              </a:rPr>
              <a:t>Strive for simplicity</a:t>
            </a:r>
            <a:r>
              <a:rPr lang="en-GB" sz="2000" dirty="0"/>
              <a:t>” in all you do</a:t>
            </a:r>
          </a:p>
          <a:p>
            <a:pPr lvl="1"/>
            <a:r>
              <a:rPr lang="en-GB" sz="2000" dirty="0"/>
              <a:t>Tests should be as </a:t>
            </a:r>
            <a:r>
              <a:rPr lang="en-GB" sz="2000" dirty="0">
                <a:solidFill>
                  <a:srgbClr val="7030A0"/>
                </a:solidFill>
              </a:rPr>
              <a:t>simple</a:t>
            </a:r>
            <a:r>
              <a:rPr lang="en-GB" sz="2000" dirty="0"/>
              <a:t> as possible</a:t>
            </a:r>
          </a:p>
          <a:p>
            <a:pPr lvl="2"/>
            <a:r>
              <a:rPr lang="en-GB" sz="1600" dirty="0"/>
              <a:t>given the task in hand</a:t>
            </a:r>
          </a:p>
          <a:p>
            <a:pPr lvl="1"/>
            <a:r>
              <a:rPr lang="en-GB" sz="2000" dirty="0"/>
              <a:t>Start with the simplest test and then build them up</a:t>
            </a:r>
          </a:p>
          <a:p>
            <a:pPr lvl="1"/>
            <a:r>
              <a:rPr lang="en-GB" sz="2000" dirty="0"/>
              <a:t>Write a test that </a:t>
            </a:r>
            <a:r>
              <a:rPr lang="en-GB" sz="2000" dirty="0">
                <a:solidFill>
                  <a:srgbClr val="C00000"/>
                </a:solidFill>
              </a:rPr>
              <a:t>fails</a:t>
            </a:r>
          </a:p>
          <a:p>
            <a:pPr lvl="1"/>
            <a:r>
              <a:rPr lang="en-GB" sz="2000" dirty="0"/>
              <a:t>Make the test </a:t>
            </a:r>
            <a:r>
              <a:rPr lang="en-GB" sz="2000" dirty="0">
                <a:solidFill>
                  <a:srgbClr val="00B050"/>
                </a:solidFill>
              </a:rPr>
              <a:t>pass</a:t>
            </a:r>
            <a:r>
              <a:rPr lang="en-GB" sz="2000" dirty="0"/>
              <a:t> </a:t>
            </a:r>
          </a:p>
          <a:p>
            <a:pPr lvl="2"/>
            <a:r>
              <a:rPr lang="en-GB" sz="1600" dirty="0"/>
              <a:t>by updating the production code</a:t>
            </a:r>
          </a:p>
          <a:p>
            <a:pPr lvl="2"/>
            <a:r>
              <a:rPr lang="en-GB" sz="1600" dirty="0"/>
              <a:t>but only do enough to pass the test</a:t>
            </a:r>
          </a:p>
          <a:p>
            <a:pPr lvl="1"/>
            <a:r>
              <a:rPr lang="en-GB" sz="2000" dirty="0"/>
              <a:t>Then</a:t>
            </a:r>
            <a:r>
              <a:rPr lang="en-GB" sz="2000" b="1" dirty="0"/>
              <a:t> </a:t>
            </a:r>
            <a:r>
              <a:rPr lang="en-GB" sz="2000" b="1" i="1" dirty="0">
                <a:solidFill>
                  <a:srgbClr val="0000FF"/>
                </a:solidFill>
              </a:rPr>
              <a:t>Refactor</a:t>
            </a:r>
            <a:r>
              <a:rPr lang="en-GB" sz="2000" dirty="0"/>
              <a:t> implementation </a:t>
            </a:r>
            <a:r>
              <a:rPr lang="en-GB" sz="2000" dirty="0">
                <a:solidFill>
                  <a:srgbClr val="0000FF"/>
                </a:solidFill>
              </a:rPr>
              <a:t>and</a:t>
            </a:r>
            <a:r>
              <a:rPr lang="en-GB" sz="2000" dirty="0"/>
              <a:t> test code </a:t>
            </a:r>
          </a:p>
          <a:p>
            <a:pPr lvl="2"/>
            <a:r>
              <a:rPr lang="en-GB" sz="1600" dirty="0"/>
              <a:t>change the internal design but not the external interface</a:t>
            </a:r>
          </a:p>
          <a:p>
            <a:pPr lvl="1"/>
            <a:r>
              <a:rPr lang="en-GB" sz="2000" dirty="0"/>
              <a:t>If other tests fail resolve each individually</a:t>
            </a:r>
          </a:p>
          <a:p>
            <a:pPr lvl="2"/>
            <a:r>
              <a:rPr lang="en-GB" sz="1600" dirty="0"/>
              <a:t>fix the failing test - then refactor the solution &amp; test – one at a time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442690" y="6519284"/>
            <a:ext cx="279185" cy="333375"/>
          </a:xfrm>
        </p:spPr>
        <p:txBody>
          <a:bodyPr/>
          <a:lstStyle/>
          <a:p>
            <a:fld id="{BFB54305-7E3B-40DA-9E14-F36A47EEC3B4}" type="slidenum">
              <a:rPr lang="en-US" altLang="en-US"/>
              <a:pPr/>
              <a:t>8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Style / Test Complexity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FC9C2-74BF-3040-A34F-F2C7BBC6D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15/05/23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6726E-B6DD-CB93-8ECF-171BB1E60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304" y="357982"/>
            <a:ext cx="1419854" cy="84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3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8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B54305-7E3B-40DA-9E14-F36A47EEC3B4}" type="slidenum">
              <a:rPr lang="en-US" altLang="en-US"/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Style / Test Complexity</a:t>
            </a:r>
          </a:p>
        </p:txBody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847" y="1479474"/>
            <a:ext cx="8570914" cy="4901853"/>
          </a:xfrm>
        </p:spPr>
        <p:txBody>
          <a:bodyPr/>
          <a:lstStyle/>
          <a:p>
            <a:r>
              <a:rPr lang="en-GB" sz="2400" dirty="0"/>
              <a:t>Address test complexity</a:t>
            </a:r>
          </a:p>
          <a:p>
            <a:pPr lvl="1"/>
            <a:r>
              <a:rPr lang="en-GB" sz="2000" dirty="0"/>
              <a:t>by designing the test codebase appropriately</a:t>
            </a:r>
          </a:p>
          <a:p>
            <a:r>
              <a:rPr lang="en-GB" sz="2400" dirty="0"/>
              <a:t>Design the production code for </a:t>
            </a:r>
            <a:r>
              <a:rPr lang="en-GB" sz="2400" dirty="0">
                <a:solidFill>
                  <a:srgbClr val="7030A0"/>
                </a:solidFill>
              </a:rPr>
              <a:t>testability</a:t>
            </a:r>
          </a:p>
          <a:p>
            <a:pPr lvl="1"/>
            <a:r>
              <a:rPr lang="en-GB" sz="2000" dirty="0"/>
              <a:t>should naturally flow from writing tests first</a:t>
            </a:r>
          </a:p>
          <a:p>
            <a:r>
              <a:rPr lang="en-GB" sz="2400" dirty="0"/>
              <a:t>Use the compiler</a:t>
            </a:r>
          </a:p>
          <a:p>
            <a:pPr lvl="1"/>
            <a:r>
              <a:rPr lang="en-GB" sz="2000" dirty="0"/>
              <a:t>let it tell you about errors and omissions</a:t>
            </a:r>
          </a:p>
          <a:p>
            <a:pPr lvl="1"/>
            <a:r>
              <a:rPr lang="en-GB" sz="2000" dirty="0"/>
              <a:t>or for interpreted languages use the editor</a:t>
            </a:r>
          </a:p>
          <a:p>
            <a:r>
              <a:rPr lang="en-GB" sz="2400" dirty="0"/>
              <a:t>Use code analysis tools</a:t>
            </a:r>
          </a:p>
          <a:p>
            <a:pPr lvl="1"/>
            <a:r>
              <a:rPr lang="en-GB" sz="2000" dirty="0"/>
              <a:t>such as </a:t>
            </a:r>
            <a:r>
              <a:rPr lang="en-GB" sz="2000" dirty="0" err="1"/>
              <a:t>jsLint</a:t>
            </a:r>
            <a:r>
              <a:rPr lang="en-GB" sz="2000" dirty="0"/>
              <a:t> or </a:t>
            </a:r>
          </a:p>
          <a:p>
            <a:pPr lvl="1"/>
            <a:r>
              <a:rPr lang="en-GB" sz="2000" dirty="0"/>
              <a:t>code analysis tools built into IntelliJ, </a:t>
            </a:r>
            <a:r>
              <a:rPr lang="en-GB" sz="2000" dirty="0" err="1"/>
              <a:t>GoLand</a:t>
            </a:r>
            <a:r>
              <a:rPr lang="en-GB" sz="2000" dirty="0"/>
              <a:t>, PyCharm etc.</a:t>
            </a:r>
          </a:p>
          <a:p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FC9C2-74BF-3040-A34F-F2C7BBC6D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90E8A-3605-D040-9A9E-5D38FBAEF4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821F0-B905-990B-31B8-8E0A9517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304" y="357982"/>
            <a:ext cx="1419854" cy="84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1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8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B54305-7E3B-40DA-9E14-F36A47EEC3B4}" type="slidenum">
              <a:rPr lang="en-US" altLang="en-US"/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Style / Test Complexity</a:t>
            </a:r>
          </a:p>
        </p:txBody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846" y="1479475"/>
            <a:ext cx="9147673" cy="4464496"/>
          </a:xfrm>
        </p:spPr>
        <p:txBody>
          <a:bodyPr/>
          <a:lstStyle/>
          <a:p>
            <a:r>
              <a:rPr lang="en-GB" sz="2400" dirty="0"/>
              <a:t>Check / Test One Concept / Feature at a time</a:t>
            </a:r>
          </a:p>
          <a:p>
            <a:pPr lvl="1"/>
            <a:r>
              <a:rPr lang="en-GB" sz="2000" dirty="0"/>
              <a:t>each test should represent a single concept, requirement, feature etc.</a:t>
            </a:r>
          </a:p>
          <a:p>
            <a:r>
              <a:rPr lang="en-GB" sz="2400" dirty="0"/>
              <a:t>Each tests should test </a:t>
            </a:r>
            <a:r>
              <a:rPr lang="en-GB" sz="2400" i="1" dirty="0"/>
              <a:t>a single concept</a:t>
            </a:r>
          </a:p>
          <a:p>
            <a:pPr lvl="1"/>
            <a:r>
              <a:rPr lang="en-GB" sz="2000" dirty="0"/>
              <a:t>leads to One assertion (Check/Assert) per test</a:t>
            </a:r>
          </a:p>
          <a:p>
            <a:pPr lvl="2"/>
            <a:r>
              <a:rPr lang="en-GB" sz="1600" dirty="0"/>
              <a:t>Although one concept may require several assertions to validate it</a:t>
            </a:r>
          </a:p>
          <a:p>
            <a:pPr lvl="1"/>
            <a:r>
              <a:rPr lang="en-GB" sz="2000" dirty="0"/>
              <a:t>subject of furious debate on various TDD groups</a:t>
            </a:r>
          </a:p>
          <a:p>
            <a:r>
              <a:rPr lang="en-GB" sz="2400" dirty="0"/>
              <a:t>Tests must be </a:t>
            </a:r>
            <a:r>
              <a:rPr lang="en-GB" sz="2400" i="1" dirty="0">
                <a:solidFill>
                  <a:srgbClr val="0000FF"/>
                </a:solidFill>
              </a:rPr>
              <a:t>maintainable</a:t>
            </a:r>
          </a:p>
          <a:p>
            <a:r>
              <a:rPr lang="en-GB" sz="2400" dirty="0"/>
              <a:t>Tests must be of </a:t>
            </a:r>
            <a:r>
              <a:rPr lang="en-GB" sz="2400" i="1" dirty="0">
                <a:solidFill>
                  <a:srgbClr val="7030A0"/>
                </a:solidFill>
              </a:rPr>
              <a:t>at least the same quality </a:t>
            </a:r>
            <a:r>
              <a:rPr lang="en-GB" sz="2400" dirty="0"/>
              <a:t>as prod code</a:t>
            </a:r>
          </a:p>
          <a:p>
            <a:r>
              <a:rPr lang="en-GB" sz="2400" dirty="0"/>
              <a:t>Can use </a:t>
            </a:r>
            <a:r>
              <a:rPr lang="en-GB" sz="2400" i="1" dirty="0">
                <a:solidFill>
                  <a:srgbClr val="0000FF"/>
                </a:solidFill>
              </a:rPr>
              <a:t>ping-pong</a:t>
            </a:r>
            <a:r>
              <a:rPr lang="en-GB" sz="2400" dirty="0"/>
              <a:t> style of development</a:t>
            </a:r>
          </a:p>
          <a:p>
            <a:pPr lvl="1"/>
            <a:r>
              <a:rPr lang="en-GB" sz="2000" dirty="0"/>
              <a:t>Pair programming – swap between writing tests and code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FC9C2-74BF-3040-A34F-F2C7BBC6D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90E8A-3605-D040-9A9E-5D38FBAEF4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ED7F6-5F95-7BC8-327D-7F6135F98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304" y="357982"/>
            <a:ext cx="1419854" cy="84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8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Tests Drive the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0"/>
            <a:ext cx="9354244" cy="4529138"/>
          </a:xfrm>
        </p:spPr>
        <p:txBody>
          <a:bodyPr/>
          <a:lstStyle/>
          <a:p>
            <a:r>
              <a:rPr lang="en-GB" sz="2400" dirty="0"/>
              <a:t>Tests Force developers to </a:t>
            </a:r>
            <a:r>
              <a:rPr lang="en-GB" sz="2400" i="1" dirty="0">
                <a:solidFill>
                  <a:srgbClr val="0000FF"/>
                </a:solidFill>
              </a:rPr>
              <a:t>Slow Down </a:t>
            </a:r>
            <a:r>
              <a:rPr lang="en-GB" sz="2400" dirty="0"/>
              <a:t>and </a:t>
            </a:r>
            <a:r>
              <a:rPr lang="en-GB" sz="2400" i="1" dirty="0">
                <a:solidFill>
                  <a:srgbClr val="0000FF"/>
                </a:solidFill>
              </a:rPr>
              <a:t>Think</a:t>
            </a:r>
          </a:p>
          <a:p>
            <a:r>
              <a:rPr lang="en-GB" sz="2400" dirty="0"/>
              <a:t>But testing can make Development </a:t>
            </a:r>
            <a:r>
              <a:rPr lang="en-GB" sz="2400" i="1" dirty="0">
                <a:solidFill>
                  <a:srgbClr val="00B050"/>
                </a:solidFill>
              </a:rPr>
              <a:t>Faster / Simpler </a:t>
            </a:r>
          </a:p>
          <a:p>
            <a:pPr lvl="1"/>
            <a:r>
              <a:rPr lang="en-GB" sz="2000" dirty="0"/>
              <a:t>over time availability of tests provides confidence in changes</a:t>
            </a:r>
          </a:p>
          <a:p>
            <a:r>
              <a:rPr lang="en-GB" sz="2400" dirty="0"/>
              <a:t>Tests make for </a:t>
            </a:r>
            <a:r>
              <a:rPr lang="en-GB" sz="2400" dirty="0">
                <a:solidFill>
                  <a:srgbClr val="0000FF"/>
                </a:solidFill>
              </a:rPr>
              <a:t>simpler implementations</a:t>
            </a:r>
          </a:p>
          <a:p>
            <a:pPr lvl="1"/>
            <a:r>
              <a:rPr lang="en-GB" sz="2000" dirty="0"/>
              <a:t>as code only meets test</a:t>
            </a:r>
          </a:p>
          <a:p>
            <a:pPr lvl="1"/>
            <a:r>
              <a:rPr lang="en-GB" sz="2000" dirty="0"/>
              <a:t>clearer code is easier to understand, extend, debug, maintain …</a:t>
            </a:r>
          </a:p>
          <a:p>
            <a:r>
              <a:rPr lang="en-GB" sz="2400" dirty="0"/>
              <a:t>Only write code to handle failed tests</a:t>
            </a:r>
          </a:p>
          <a:p>
            <a:pPr lvl="1"/>
            <a:r>
              <a:rPr lang="en-GB" sz="2000" dirty="0"/>
              <a:t>if you have changed anything and existing tests fail</a:t>
            </a:r>
          </a:p>
          <a:p>
            <a:pPr lvl="1"/>
            <a:r>
              <a:rPr lang="en-GB" sz="2000" dirty="0"/>
              <a:t>only write enough code to pass those tests</a:t>
            </a:r>
          </a:p>
          <a:p>
            <a:pPr lvl="1"/>
            <a:r>
              <a:rPr lang="en-GB" sz="2000" dirty="0"/>
              <a:t>verify all tests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D1DAB-F8F2-BB41-B1B4-7EBD5C1CAF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55098-4509-244A-A365-86806DCD8D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31E0A7-D934-4123-A74C-C7A7DE517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942" y="637677"/>
            <a:ext cx="921223" cy="56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4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43D0-F8B6-8648-8565-8F304CB2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is about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27C28-3878-7940-99C5-D5BFBB66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29" y="1393211"/>
            <a:ext cx="9270503" cy="4529138"/>
          </a:xfrm>
        </p:spPr>
        <p:txBody>
          <a:bodyPr/>
          <a:lstStyle/>
          <a:p>
            <a:r>
              <a:rPr lang="en-GB" sz="2400" dirty="0"/>
              <a:t>TDD appears to be verification oriented </a:t>
            </a:r>
          </a:p>
          <a:p>
            <a:pPr lvl="1"/>
            <a:r>
              <a:rPr lang="en-GB" sz="2000" dirty="0"/>
              <a:t>hey </a:t>
            </a:r>
            <a:r>
              <a:rPr lang="en-GB" sz="2000" dirty="0">
                <a:solidFill>
                  <a:srgbClr val="7030A0"/>
                </a:solidFill>
              </a:rPr>
              <a:t>testing</a:t>
            </a:r>
            <a:r>
              <a:rPr lang="en-GB" sz="2000" dirty="0"/>
              <a:t> is in the title</a:t>
            </a:r>
          </a:p>
          <a:p>
            <a:r>
              <a:rPr lang="en-GB" sz="2400" dirty="0"/>
              <a:t>But in fact, it is more about </a:t>
            </a:r>
            <a:r>
              <a:rPr lang="en-GB" sz="2400" b="1" i="1" dirty="0">
                <a:solidFill>
                  <a:srgbClr val="0000FF"/>
                </a:solidFill>
              </a:rPr>
              <a:t>Design Evolution</a:t>
            </a:r>
          </a:p>
          <a:p>
            <a:pPr lvl="1"/>
            <a:r>
              <a:rPr lang="en-GB" sz="2000" dirty="0"/>
              <a:t>it is focussed on the </a:t>
            </a:r>
            <a:r>
              <a:rPr lang="en-GB" sz="2000" b="1" dirty="0">
                <a:solidFill>
                  <a:srgbClr val="0000FF"/>
                </a:solidFill>
              </a:rPr>
              <a:t>Function</a:t>
            </a:r>
            <a:r>
              <a:rPr lang="en-GB" sz="2000" dirty="0">
                <a:solidFill>
                  <a:srgbClr val="0000FF"/>
                </a:solidFill>
              </a:rPr>
              <a:t> of the Software</a:t>
            </a:r>
          </a:p>
          <a:p>
            <a:r>
              <a:rPr lang="en-US" sz="2400" dirty="0"/>
              <a:t>The act of writing a TDD test </a:t>
            </a:r>
          </a:p>
          <a:p>
            <a:pPr lvl="1"/>
            <a:r>
              <a:rPr lang="en-US" sz="2000" dirty="0"/>
              <a:t>is more an act of </a:t>
            </a:r>
            <a:r>
              <a:rPr lang="en-US" sz="2000" b="1" i="1" dirty="0">
                <a:solidFill>
                  <a:srgbClr val="0000FF"/>
                </a:solidFill>
              </a:rPr>
              <a:t>design</a:t>
            </a:r>
            <a:r>
              <a:rPr lang="en-US" sz="2000" dirty="0"/>
              <a:t> than of </a:t>
            </a:r>
            <a:r>
              <a:rPr lang="en-US" sz="2000" b="1" dirty="0">
                <a:solidFill>
                  <a:srgbClr val="FF0000"/>
                </a:solidFill>
              </a:rPr>
              <a:t>verification</a:t>
            </a:r>
            <a:endParaRPr lang="en-GB" sz="2000" b="1" dirty="0">
              <a:solidFill>
                <a:srgbClr val="FF0000"/>
              </a:solidFill>
            </a:endParaRPr>
          </a:p>
          <a:p>
            <a:pPr lvl="1"/>
            <a:r>
              <a:rPr lang="en-GB" sz="2000" dirty="0"/>
              <a:t>the resulting implementation should adopt the appropriate form</a:t>
            </a:r>
          </a:p>
          <a:p>
            <a:pPr lvl="1"/>
            <a:r>
              <a:rPr lang="en-US" sz="2000" dirty="0"/>
              <a:t>TDD isn’t about writing tests, it's </a:t>
            </a:r>
            <a:r>
              <a:rPr lang="en-US" sz="2000" i="1" dirty="0">
                <a:solidFill>
                  <a:srgbClr val="0000FF"/>
                </a:solidFill>
              </a:rPr>
              <a:t>about defining behavior</a:t>
            </a:r>
          </a:p>
          <a:p>
            <a:r>
              <a:rPr lang="en-US" sz="2400" dirty="0"/>
              <a:t>Write the tests </a:t>
            </a:r>
            <a:r>
              <a:rPr lang="en-US" sz="2400" dirty="0" err="1"/>
              <a:t>w.r.t.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00B050"/>
                </a:solidFill>
              </a:rPr>
              <a:t>Interface</a:t>
            </a:r>
            <a:r>
              <a:rPr lang="en-US" sz="2400" dirty="0"/>
              <a:t> you are designing</a:t>
            </a:r>
          </a:p>
          <a:p>
            <a:pPr lvl="1"/>
            <a:r>
              <a:rPr lang="en-US" sz="2000" dirty="0"/>
              <a:t>then design the implementation to meet the interface contract</a:t>
            </a:r>
          </a:p>
          <a:p>
            <a:r>
              <a:rPr lang="en-US" sz="2400" dirty="0"/>
              <a:t>Then review implementation design to improve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22CEC-FBE5-8E42-B79F-E32192DCB2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76DC-A4F8-3E4A-9709-38B10B85AC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EA1D7-74F2-A14F-B19C-0C8BCC39A3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06DD3-0830-C040-A315-CA1CD5CB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00" y="476672"/>
            <a:ext cx="620315" cy="81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1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writing the test you are specifying </a:t>
            </a:r>
            <a:r>
              <a:rPr lang="en-US" sz="2400" dirty="0">
                <a:solidFill>
                  <a:srgbClr val="0000FF"/>
                </a:solidFill>
              </a:rPr>
              <a:t>what the software should do – it represents some </a:t>
            </a:r>
            <a:r>
              <a:rPr lang="en-US" sz="2400" i="1" dirty="0">
                <a:solidFill>
                  <a:srgbClr val="0000FF"/>
                </a:solidFill>
              </a:rPr>
              <a:t>requirement</a:t>
            </a:r>
          </a:p>
          <a:p>
            <a:r>
              <a:rPr lang="en-US" sz="2400" dirty="0"/>
              <a:t>Do not write the tests based on the existing / planned implementation</a:t>
            </a:r>
          </a:p>
          <a:p>
            <a:r>
              <a:rPr lang="en-GB" sz="2400" dirty="0"/>
              <a:t>You then </a:t>
            </a:r>
            <a:r>
              <a:rPr lang="en-GB" sz="2400" dirty="0">
                <a:solidFill>
                  <a:srgbClr val="0000FF"/>
                </a:solidFill>
              </a:rPr>
              <a:t>implement that </a:t>
            </a:r>
            <a:r>
              <a:rPr lang="en-GB" sz="2400" i="1" dirty="0">
                <a:solidFill>
                  <a:srgbClr val="0000FF"/>
                </a:solidFill>
              </a:rPr>
              <a:t>required</a:t>
            </a:r>
            <a:r>
              <a:rPr lang="en-GB" sz="2400" dirty="0">
                <a:solidFill>
                  <a:srgbClr val="0000FF"/>
                </a:solidFill>
              </a:rPr>
              <a:t> behaviour </a:t>
            </a:r>
            <a:r>
              <a:rPr lang="en-GB" sz="2400" dirty="0"/>
              <a:t>and any changes this requires to existing code</a:t>
            </a:r>
          </a:p>
          <a:p>
            <a:r>
              <a:rPr lang="en-GB" sz="2400" dirty="0"/>
              <a:t>Then </a:t>
            </a:r>
            <a:r>
              <a:rPr lang="en-GB" sz="2400" dirty="0">
                <a:solidFill>
                  <a:srgbClr val="0000FF"/>
                </a:solidFill>
              </a:rPr>
              <a:t>stand back and </a:t>
            </a:r>
            <a:r>
              <a:rPr lang="en-GB" sz="2400" i="1" dirty="0">
                <a:solidFill>
                  <a:srgbClr val="0000FF"/>
                </a:solidFill>
              </a:rPr>
              <a:t>review</a:t>
            </a:r>
            <a:r>
              <a:rPr lang="en-GB" sz="2400" dirty="0">
                <a:solidFill>
                  <a:srgbClr val="0000FF"/>
                </a:solidFill>
              </a:rPr>
              <a:t> implementation </a:t>
            </a:r>
            <a:r>
              <a:rPr lang="en-GB" sz="2400" dirty="0"/>
              <a:t>and refactor – aim for best implementation of code &amp; test</a:t>
            </a:r>
          </a:p>
          <a:p>
            <a:r>
              <a:rPr lang="en-US" sz="2400" dirty="0"/>
              <a:t>TDD is thus </a:t>
            </a:r>
            <a:r>
              <a:rPr lang="en-US" sz="2400" dirty="0">
                <a:solidFill>
                  <a:srgbClr val="0000FF"/>
                </a:solidFill>
              </a:rPr>
              <a:t>Testing + </a:t>
            </a:r>
            <a:r>
              <a:rPr lang="en-US" sz="2400" b="1" dirty="0">
                <a:solidFill>
                  <a:srgbClr val="0000FF"/>
                </a:solidFill>
              </a:rPr>
              <a:t>Design + Refactoring</a:t>
            </a:r>
          </a:p>
          <a:p>
            <a:pPr lvl="1"/>
            <a:r>
              <a:rPr lang="en-GB" sz="2000" dirty="0"/>
              <a:t>makes it more than just Testing or Test First Development</a:t>
            </a:r>
          </a:p>
          <a:p>
            <a:pPr marL="457200" lvl="1" indent="0">
              <a:buNone/>
            </a:pP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8575E-465B-514F-A932-E72702DC9DE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DED01-17FC-104E-A5E8-83765B54DE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59492-ABB5-6049-A7BE-A789149E5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312" y="545098"/>
            <a:ext cx="1454589" cy="65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0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584651-0B41-3C4B-AA5E-C9114037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057" y="2458836"/>
            <a:ext cx="3106479" cy="185298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193B30B-5045-4006-879C-CF934E6440A8}" type="slidenum">
              <a:rPr lang="en-GB"/>
              <a:pPr/>
              <a:t>14</a:t>
            </a:fld>
            <a:endParaRPr lang="en-GB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88504" y="68921"/>
            <a:ext cx="8350696" cy="1448731"/>
          </a:xfrm>
          <a:ln/>
        </p:spPr>
        <p:txBody>
          <a:bodyPr wrap="square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Summary TDD Benefits for Developers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1896" y="1340768"/>
            <a:ext cx="9325640" cy="5226368"/>
          </a:xfrm>
          <a:ln/>
        </p:spPr>
        <p:txBody>
          <a:bodyPr wrap="square">
            <a:spAutoFit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Design key to implementation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/>
              <a:t>of tests, of implementation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i="1" dirty="0"/>
              <a:t>Refactoring</a:t>
            </a:r>
            <a:r>
              <a:rPr lang="en-GB" sz="2400" dirty="0"/>
              <a:t> key part of TDD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/>
              <a:t>improves quality of (all) code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Code proven to meet requirements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Tests become an asset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Tests are (part of the) documentation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No code left untested (in theory)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Future maintenance supported: </a:t>
            </a:r>
            <a:r>
              <a:rPr lang="en-GB" sz="2000" dirty="0"/>
              <a:t>Tests become Safety Net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/>
              <a:t>Confidence in codebase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EA245-C47B-B147-A1A5-8ECB5566F2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14577-0151-6B4F-A1F0-DB0F484173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</p:spTree>
    <p:extLst>
      <p:ext uri="{BB962C8B-B14F-4D97-AF65-F5344CB8AC3E}">
        <p14:creationId xmlns:p14="http://schemas.microsoft.com/office/powerpoint/2010/main" val="35486919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237A-A674-18BC-8541-10F9A62A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Short Lab: </a:t>
            </a:r>
            <a:r>
              <a:rPr lang="en-US" dirty="0" err="1"/>
              <a:t>FizzBuzz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6C443-8CFB-0015-65CF-60FC6D6F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404532"/>
            <a:ext cx="9433048" cy="5175654"/>
          </a:xfrm>
        </p:spPr>
        <p:txBody>
          <a:bodyPr/>
          <a:lstStyle/>
          <a:p>
            <a:pPr marL="0" indent="0">
              <a:buNone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Write a “</a:t>
            </a:r>
            <a:r>
              <a:rPr lang="en-GB" sz="2400" kern="1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fizzBuzz</a:t>
            </a: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” function / method that accepts a number as input and returns a String.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Zero return “Error”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negative numbers return “must be a positive integer”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non negative numbers return the number as a string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multiples of three return “Fizz”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the multiples of five return “Buzz”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2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numbers that are multiples of both three and five</a:t>
            </a:r>
            <a:r>
              <a:rPr lang="en-GB" sz="2400" kern="0" dirty="0">
                <a:solidFill>
                  <a:srgbClr val="444444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return “</a:t>
            </a:r>
            <a:r>
              <a:rPr lang="en-GB" sz="2400" kern="0" dirty="0" err="1">
                <a:solidFill>
                  <a:srgbClr val="444444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FizzBuzz</a:t>
            </a:r>
            <a:r>
              <a:rPr lang="en-GB" sz="2400" kern="0" dirty="0">
                <a:solidFill>
                  <a:srgbClr val="444444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”.</a:t>
            </a:r>
            <a:endParaRPr lang="en-GB" sz="24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59D7E-4EF9-DC1E-10B1-BCB898E929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C37E-4437-10DA-F1D2-7857009C57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Dev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897B2-F490-8A26-62FC-906D9E7664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1544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1068</Words>
  <Application>Microsoft Macintosh PowerPoint</Application>
  <PresentationFormat>A4 Paper (210x297 mm)</PresentationFormat>
  <Paragraphs>204</Paragraphs>
  <Slides>16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Garamond</vt:lpstr>
      <vt:lpstr>Microsoft Sans Serif</vt:lpstr>
      <vt:lpstr>Times New Roman</vt:lpstr>
      <vt:lpstr>Verdana</vt:lpstr>
      <vt:lpstr>Wingdings</vt:lpstr>
      <vt:lpstr>Default Design</vt:lpstr>
      <vt:lpstr>1_Default Design</vt:lpstr>
      <vt:lpstr>TDD Development Cycle</vt:lpstr>
      <vt:lpstr>Plan for Session</vt:lpstr>
      <vt:lpstr>TDD Cycle</vt:lpstr>
      <vt:lpstr>TDD Cycle</vt:lpstr>
      <vt:lpstr>TDD Mantra: Red/Green/Refactor</vt:lpstr>
      <vt:lpstr>TDD Mantra: Red/Green/Refactor</vt:lpstr>
      <vt:lpstr>3 Rules of TDD</vt:lpstr>
      <vt:lpstr>Test Style / Test Complexity</vt:lpstr>
      <vt:lpstr>Test Style / Test Complexity</vt:lpstr>
      <vt:lpstr>Test Style / Test Complexity</vt:lpstr>
      <vt:lpstr>Tests Drive the Development</vt:lpstr>
      <vt:lpstr>TDD is about Design</vt:lpstr>
      <vt:lpstr>Design Evolution</vt:lpstr>
      <vt:lpstr>Summary TDD Benefits for Developers</vt:lpstr>
      <vt:lpstr>Questions?</vt:lpstr>
      <vt:lpstr>TDD Short Lab: FizzBuzz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147</cp:revision>
  <cp:lastPrinted>2023-05-15T13:13:01Z</cp:lastPrinted>
  <dcterms:modified xsi:type="dcterms:W3CDTF">2026-03-26T07:21:39Z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2026-03-26T07:15:01Z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94f7c7d2-6e8e-430c-9129-afc6d2b26d0b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