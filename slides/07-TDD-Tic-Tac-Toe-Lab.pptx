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1"/>
  </p:notesMasterIdLst>
  <p:handoutMasterIdLst>
    <p:handoutMasterId r:id="rId12"/>
  </p:handoutMasterIdLst>
  <p:sldIdLst>
    <p:sldId id="256" r:id="rId3"/>
    <p:sldId id="327" r:id="rId4"/>
    <p:sldId id="373" r:id="rId5"/>
    <p:sldId id="389" r:id="rId6"/>
    <p:sldId id="391" r:id="rId7"/>
    <p:sldId id="374" r:id="rId8"/>
    <p:sldId id="390" r:id="rId9"/>
    <p:sldId id="263" r:id="rId10"/>
  </p:sldIdLst>
  <p:sldSz cx="9906000" cy="6858000" type="A4"/>
  <p:notesSz cx="7086600" cy="102219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97" autoAdjust="0"/>
    <p:restoredTop sz="86410" autoAdjust="0"/>
  </p:normalViewPr>
  <p:slideViewPr>
    <p:cSldViewPr>
      <p:cViewPr varScale="1">
        <p:scale>
          <a:sx n="69" d="100"/>
          <a:sy n="69" d="100"/>
        </p:scale>
        <p:origin x="216" y="15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67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0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4788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CBFC2FC-AB15-4A86-A090-42EA9D9D8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86600" cy="102219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014788" y="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776288" y="766763"/>
            <a:ext cx="5532437" cy="3830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8025" y="4856163"/>
            <a:ext cx="5668963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0915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14788" y="970915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05325CD-D4D1-46AB-A07B-76CAD4A152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29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B24E597-641E-4831-92E7-FE32F3EB8DD0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/>
              <a:t>1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1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4700" y="766763"/>
            <a:ext cx="5537200" cy="38338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70550" cy="45989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8902" tIns="49451" rIns="98902" bIns="49451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431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AA5FB-1A88-4438-BFBB-9BBB90E53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17CFC-9530-4DD8-A082-6933CE16E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1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FDBB7-AE6C-44A4-9354-E420422B6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5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3431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0200"/>
            <a:ext cx="437515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112-9BC8-4B82-B6DA-AD3952AEF2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2EFEF-B460-41E1-B380-21E0D72C1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5FF55-9A51-49BC-91F0-BC8E688F1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DF69-52E3-48D5-99E7-63105AE4C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FB47-FC34-470D-975D-818673632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56B33-355B-4F00-98F1-AAA0DA53B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5734D-DD4C-4AFE-A48C-C042F044E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61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7814"/>
            <a:ext cx="2227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781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8A648-AA13-472B-B8F8-A061FAD94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31D7C-3F02-481D-A2CB-CE756043E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9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99C5-CA01-4C37-9A77-0BC9D4DCC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3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CA9A-3BFE-4494-AE79-033AB3181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3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3431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4964"/>
            <a:ext cx="437515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55E91-4FFC-497B-9460-CB8D1F1E6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72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E714-687B-490B-BC5F-848B0211A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A0F8F-584F-4FE6-8B99-D18FEFDE6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5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BC1AD-34F6-412E-A983-7210815D51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05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BC6ED-34ED-4D17-86C5-68EFDB043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6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58291-C605-4591-98C4-EA212E382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96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961CE-61F8-4BC5-8BB3-B0A0F0B4C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685800"/>
            <a:ext cx="2227131" cy="5443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85800"/>
            <a:ext cx="6521450" cy="5443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37626-AC2C-4FBA-AD1A-B46461F8D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56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85801"/>
            <a:ext cx="8418381" cy="21256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173BD-EAA9-43F3-A181-9BB25AB1E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8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7814"/>
            <a:ext cx="8913681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3681" cy="452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28229" y="6524626"/>
            <a:ext cx="23096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393149" y="6524626"/>
            <a:ext cx="31351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37136" y="6524626"/>
            <a:ext cx="2309681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D170E260-D032-4AF5-A4B0-E2382247C2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95300" y="1447800"/>
            <a:ext cx="8750300" cy="1588"/>
          </a:xfrm>
          <a:prstGeom prst="line">
            <a:avLst/>
          </a:prstGeom>
          <a:noFill/>
          <a:ln w="19080">
            <a:solidFill>
              <a:srgbClr val="0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85801"/>
            <a:ext cx="8418381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95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384550" y="6248401"/>
            <a:ext cx="31351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Font typeface="Verdana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099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EBBAEC79-F64B-4999-8F10-F75F3E166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2054" name="Object 5"/>
          <p:cNvGraphicFramePr>
            <a:graphicFrameLocks noChangeAspect="1"/>
          </p:cNvGraphicFramePr>
          <p:nvPr/>
        </p:nvGraphicFramePr>
        <p:xfrm>
          <a:off x="271728" y="2924176"/>
          <a:ext cx="928343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91552" imgH="391770" progId="">
                  <p:embed/>
                </p:oleObj>
              </mc:Choice>
              <mc:Fallback>
                <p:oleObj r:id="rId14" imgW="7591552" imgH="39177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28" y="2924176"/>
                        <a:ext cx="9283435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4"/>
            <a:ext cx="8913681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github.com/johnehunt/TicTacToeKata/tree/ma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317A-B09E-4609-B950-7F75FB78108D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704851" y="692150"/>
            <a:ext cx="8424863" cy="2127250"/>
          </a:xfrm>
        </p:spPr>
        <p:txBody>
          <a:bodyPr/>
          <a:lstStyle/>
          <a:p>
            <a:pPr algn="ctr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Tic-Tac-Toe TDD Lab</a:t>
            </a:r>
            <a:br>
              <a:rPr lang="en-GB" dirty="0"/>
            </a:br>
            <a:r>
              <a:rPr lang="en-GB"/>
              <a:t>(Optional)</a:t>
            </a:r>
            <a:endParaRPr lang="en-GB" dirty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3270250"/>
            <a:ext cx="6400800" cy="2209800"/>
          </a:xfrm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000" dirty="0"/>
              <a:t>Kevin Cunningham</a:t>
            </a:r>
          </a:p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3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3297B-A3AD-894C-ABA5-CC60C83D6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02/02/2022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31CDB-74C2-064B-9CA1-3895C1ECE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Tic-Tac-Toe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BFA2D1-81D0-F447-A61F-EC2EB3870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67" y="4716518"/>
            <a:ext cx="2046514" cy="11477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79E693-FA4E-F946-A189-48B473C223DE}"/>
              </a:ext>
            </a:extLst>
          </p:cNvPr>
          <p:cNvSpPr txBox="1"/>
          <p:nvPr/>
        </p:nvSpPr>
        <p:spPr>
          <a:xfrm>
            <a:off x="518620" y="5290371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F6D905-D322-904F-BDC7-285B17ED1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491174" y="4928168"/>
            <a:ext cx="923651" cy="97461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Tic-Tac-Toe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Things to Note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Tic-Tac-Toe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82391-0B65-3D45-83B8-9D3479DF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CB0BDE-3348-324E-80A5-B6D12F253AC3}"/>
              </a:ext>
            </a:extLst>
          </p:cNvPr>
          <p:cNvSpPr txBox="1"/>
          <p:nvPr/>
        </p:nvSpPr>
        <p:spPr>
          <a:xfrm>
            <a:off x="3650124" y="5445224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https://</a:t>
            </a:r>
            <a:r>
              <a:rPr lang="en-US" dirty="0" err="1">
                <a:solidFill>
                  <a:schemeClr val="tx1"/>
                </a:solidFill>
              </a:rPr>
              <a:t>playtictactoe.org</a:t>
            </a:r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pic>
        <p:nvPicPr>
          <p:cNvPr id="9" name="Picture 2" descr="Katas of Wado Ryu – Chojinkai Karate">
            <a:extLst>
              <a:ext uri="{FF2B5EF4-FFF2-40B4-BE49-F238E27FC236}">
                <a16:creationId xmlns:a16="http://schemas.microsoft.com/office/drawing/2014/main" id="{40A27144-041F-DC47-9D57-2B42DDE0E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104" y="1686007"/>
            <a:ext cx="2832100" cy="287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48EE96-F6A2-774B-82BA-F29D59438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737909" y="3615809"/>
            <a:ext cx="923651" cy="97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5358-BB93-DF48-94BC-6056CACA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Tic-Tac-Toe Kata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C5467-9277-5B4A-BF3E-41EC43631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Another Kata used to help with learning TDD</a:t>
            </a:r>
          </a:p>
          <a:p>
            <a:r>
              <a:rPr lang="en-US" sz="2400" dirty="0"/>
              <a:t>Based around the Tic-Tac-Toe (or </a:t>
            </a:r>
            <a:r>
              <a:rPr lang="en-US" sz="2400" dirty="0" err="1"/>
              <a:t>Noughts</a:t>
            </a:r>
            <a:r>
              <a:rPr lang="en-US" sz="2400" dirty="0"/>
              <a:t> and Crosses) game</a:t>
            </a:r>
          </a:p>
          <a:p>
            <a:r>
              <a:rPr lang="en-US" sz="2400" dirty="0"/>
              <a:t>Game is played on a 3 by 3 grid</a:t>
            </a:r>
          </a:p>
          <a:p>
            <a:pPr lvl="1"/>
            <a:r>
              <a:rPr lang="en-US" sz="2000" dirty="0"/>
              <a:t>By two players X and O</a:t>
            </a:r>
          </a:p>
          <a:p>
            <a:r>
              <a:rPr lang="en-US" sz="2400" dirty="0"/>
              <a:t>Aim of the game is to get your counters in a line of three first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1CCF5-E532-214F-8FA4-5FDC61479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B97DF-AE2F-314F-B293-7CCFB1225C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4663-88B4-C14C-B4B9-49AB944E0F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1BC267-906A-C64B-8BA7-C2E908E02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214639" y="4770601"/>
            <a:ext cx="1475002" cy="15563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C2E3A6-6DF4-8943-BF47-D4EAED0E4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265368" y="511802"/>
            <a:ext cx="656869" cy="69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12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E94D-AF05-A14D-9233-6CD8388FF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Tic-Tac-Toe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717B3-1A56-4C40-B133-505C231A2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351" y="1428944"/>
            <a:ext cx="8913681" cy="4529138"/>
          </a:xfrm>
        </p:spPr>
        <p:txBody>
          <a:bodyPr/>
          <a:lstStyle/>
          <a:p>
            <a:r>
              <a:rPr lang="en-US" sz="2400" dirty="0"/>
              <a:t>Your aim is to </a:t>
            </a:r>
          </a:p>
          <a:p>
            <a:pPr lvl="1"/>
            <a:r>
              <a:rPr lang="en-US" sz="2000" dirty="0"/>
              <a:t>Write a series of functions / methods that will</a:t>
            </a:r>
          </a:p>
          <a:p>
            <a:pPr lvl="1"/>
            <a:r>
              <a:rPr lang="en-US" sz="2000" dirty="0"/>
              <a:t>Process the current state of the game board</a:t>
            </a:r>
          </a:p>
          <a:p>
            <a:pPr lvl="1"/>
            <a:r>
              <a:rPr lang="en-US" sz="2000" dirty="0"/>
              <a:t>Check for a win for either side</a:t>
            </a:r>
          </a:p>
          <a:p>
            <a:pPr lvl="2"/>
            <a:r>
              <a:rPr lang="en-US" sz="1800" dirty="0"/>
              <a:t>A player has a line </a:t>
            </a:r>
            <a:r>
              <a:rPr lang="en-US" sz="1800"/>
              <a:t>of 3 tokens </a:t>
            </a:r>
            <a:r>
              <a:rPr lang="en-US" sz="1800" dirty="0"/>
              <a:t>horizontally, vertically or diagonally in a straight line</a:t>
            </a:r>
          </a:p>
          <a:p>
            <a:pPr lvl="1"/>
            <a:r>
              <a:rPr lang="en-US" sz="2000" dirty="0"/>
              <a:t>Check for a draw</a:t>
            </a:r>
          </a:p>
          <a:p>
            <a:pPr lvl="2"/>
            <a:r>
              <a:rPr lang="en-US" sz="1800" dirty="0"/>
              <a:t>Occurs when all grid positions are filled</a:t>
            </a:r>
          </a:p>
          <a:p>
            <a:pPr lvl="2"/>
            <a:r>
              <a:rPr lang="en-US" sz="1800" dirty="0"/>
              <a:t>But neither player has a line of three counters</a:t>
            </a:r>
          </a:p>
          <a:p>
            <a:pPr lvl="1"/>
            <a:r>
              <a:rPr lang="en-US" sz="2000" dirty="0"/>
              <a:t>Allow a move to be made</a:t>
            </a:r>
          </a:p>
          <a:p>
            <a:pPr lvl="2"/>
            <a:r>
              <a:rPr lang="en-US" sz="1800" dirty="0"/>
              <a:t>In which a counter can be placed in an empty grid location</a:t>
            </a:r>
          </a:p>
          <a:p>
            <a:pPr lvl="1"/>
            <a:r>
              <a:rPr lang="en-US" sz="2000" dirty="0"/>
              <a:t>Ensure that the next move is made by the other player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170D7-FDED-0748-9A92-D9ABF06BF0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24ECB-4AEA-F148-8581-362D86A1CF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D2E05-5D78-6446-845E-34F7C8C92A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153C72-2B23-134D-A85B-766620132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48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F70C1-B7EE-A44D-8175-429A248B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Things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D297B-67F5-C044-AED0-7955BE53F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Use your preferred development language / environment</a:t>
            </a:r>
          </a:p>
          <a:p>
            <a:pPr lvl="1"/>
            <a:r>
              <a:rPr lang="en-GB" sz="2000" dirty="0"/>
              <a:t>Using your own technology platform</a:t>
            </a:r>
          </a:p>
          <a:p>
            <a:pPr lvl="1"/>
            <a:r>
              <a:rPr lang="en-GB" sz="2000" dirty="0"/>
              <a:t>E.g. Java and JUnit, Scala and ScalaTest, </a:t>
            </a:r>
          </a:p>
          <a:p>
            <a:pPr lvl="1"/>
            <a:r>
              <a:rPr lang="en-GB" sz="2000" dirty="0"/>
              <a:t>Python and </a:t>
            </a:r>
            <a:r>
              <a:rPr lang="en-GB" sz="2000" dirty="0" err="1"/>
              <a:t>PyTest</a:t>
            </a:r>
            <a:r>
              <a:rPr lang="en-GB" sz="2000" dirty="0"/>
              <a:t>,</a:t>
            </a:r>
          </a:p>
          <a:p>
            <a:pPr lvl="1"/>
            <a:r>
              <a:rPr lang="en-GB" sz="2000" dirty="0"/>
              <a:t>JavaScript and Jasmine, Jest, Mocha/</a:t>
            </a:r>
            <a:r>
              <a:rPr lang="en-GB" sz="2000"/>
              <a:t>Sinon </a:t>
            </a:r>
            <a:r>
              <a:rPr lang="en-GB" sz="2000" dirty="0"/>
              <a:t>etc.</a:t>
            </a:r>
          </a:p>
          <a:p>
            <a:pPr lvl="1"/>
            <a:r>
              <a:rPr lang="en-GB" sz="2000" dirty="0"/>
              <a:t>Go and testify</a:t>
            </a:r>
          </a:p>
          <a:p>
            <a:r>
              <a:rPr lang="en-GB" sz="2400" dirty="0"/>
              <a:t>Work on your own solution</a:t>
            </a:r>
          </a:p>
          <a:p>
            <a:r>
              <a:rPr lang="en-GB" sz="2400" dirty="0"/>
              <a:t>But use the </a:t>
            </a:r>
            <a:r>
              <a:rPr lang="en-GB" sz="2400" i="1" dirty="0"/>
              <a:t>room</a:t>
            </a:r>
            <a:r>
              <a:rPr lang="en-GB" sz="2400" dirty="0"/>
              <a:t> to discuss ideas / share thoughts / explore possibilities</a:t>
            </a:r>
          </a:p>
          <a:p>
            <a:endParaRPr lang="en-GB" sz="2400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CC37D-5ABC-6844-8E55-60C68A09CB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2FFBD-4463-0A4C-887C-CF8D67CF4D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A53B-2FE7-A647-846D-05741203B6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pic>
        <p:nvPicPr>
          <p:cNvPr id="8" name="Picture 7" descr="Light bulb ideas - Free Stock Photo by Merelize on Stockvault.net">
            <a:extLst>
              <a:ext uri="{FF2B5EF4-FFF2-40B4-BE49-F238E27FC236}">
                <a16:creationId xmlns:a16="http://schemas.microsoft.com/office/drawing/2014/main" id="{5DB76E0B-301C-0FD1-23CD-55366F4FC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819" y="356959"/>
            <a:ext cx="951136" cy="97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18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F944-C1DC-F944-B1A1-7EF79037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55BBE-06DF-C14D-A2EE-1F36AB54A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98" y="1628799"/>
            <a:ext cx="9273638" cy="4316389"/>
          </a:xfrm>
        </p:spPr>
        <p:txBody>
          <a:bodyPr/>
          <a:lstStyle/>
          <a:p>
            <a:r>
              <a:rPr lang="en-US" sz="2400" dirty="0"/>
              <a:t>Keep your workings</a:t>
            </a:r>
          </a:p>
          <a:p>
            <a:pPr lvl="1"/>
            <a:r>
              <a:rPr lang="en-US" sz="2000" dirty="0"/>
              <a:t>You may want to make notes as you go along</a:t>
            </a:r>
          </a:p>
          <a:p>
            <a:pPr lvl="1"/>
            <a:r>
              <a:rPr lang="en-US" sz="2000" dirty="0"/>
              <a:t>Will have a show and tell at the end of the session</a:t>
            </a:r>
          </a:p>
          <a:p>
            <a:r>
              <a:rPr lang="en-GB" sz="2400" dirty="0"/>
              <a:t>Start with the simplest test case </a:t>
            </a:r>
          </a:p>
          <a:p>
            <a:pPr lvl="1"/>
            <a:r>
              <a:rPr lang="en-GB" sz="2000" dirty="0"/>
              <a:t>Follow the patterns presented today</a:t>
            </a:r>
          </a:p>
          <a:p>
            <a:pPr lvl="1"/>
            <a:r>
              <a:rPr lang="en-GB" sz="2000" dirty="0"/>
              <a:t>And build up a step at a time</a:t>
            </a:r>
          </a:p>
          <a:p>
            <a:pPr lvl="1"/>
            <a:r>
              <a:rPr lang="en-GB" sz="2000" dirty="0"/>
              <a:t>Remember to refactor</a:t>
            </a:r>
          </a:p>
          <a:p>
            <a:r>
              <a:rPr lang="en-GB" sz="2400" dirty="0"/>
              <a:t>Aim for a group discussion at the end of the day</a:t>
            </a:r>
          </a:p>
          <a:p>
            <a:endParaRPr lang="en-GB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2DECB-0E46-A04E-A807-AAB045284B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B858C-00BA-D940-98D3-BFED13E66F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13119-AFA1-4C45-833E-10A0F51E0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pic>
        <p:nvPicPr>
          <p:cNvPr id="8" name="Picture 7" descr="Light bulb ideas - Free Stock Photo by Merelize on Stockvault.net">
            <a:extLst>
              <a:ext uri="{FF2B5EF4-FFF2-40B4-BE49-F238E27FC236}">
                <a16:creationId xmlns:a16="http://schemas.microsoft.com/office/drawing/2014/main" id="{44085775-F2F6-C3C9-28C2-2AB7544A2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819" y="356959"/>
            <a:ext cx="951136" cy="97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01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0BDE-7421-CD4D-A3B3-B5183005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721BB-5DD0-BC43-8AA7-D2E87EE4E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</a:t>
            </a:r>
          </a:p>
          <a:p>
            <a:endParaRPr lang="en-US" dirty="0"/>
          </a:p>
          <a:p>
            <a:pPr lvl="1"/>
            <a:r>
              <a:rPr lang="en-US" sz="2000" dirty="0">
                <a:hlinkClick r:id="rId2"/>
              </a:rPr>
              <a:t>https://github.com/johnehunt/TicTacToeKata/tree/main</a:t>
            </a:r>
            <a:endParaRPr lang="en-US" sz="2000" dirty="0"/>
          </a:p>
          <a:p>
            <a:endParaRPr lang="en-US" dirty="0"/>
          </a:p>
          <a:p>
            <a:r>
              <a:rPr lang="en-US" dirty="0"/>
              <a:t>Each branch is a different iteration</a:t>
            </a:r>
          </a:p>
          <a:p>
            <a:pPr lvl="1"/>
            <a:r>
              <a:rPr lang="en-US" dirty="0"/>
              <a:t>Main is the starting point</a:t>
            </a:r>
          </a:p>
          <a:p>
            <a:pPr lvl="1"/>
            <a:r>
              <a:rPr lang="en-US" dirty="0"/>
              <a:t>Steps 1 to 9 are the individual tests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318A0-0790-4248-AD2F-3D9F8AD77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B7EE-AAAF-474E-8788-0B1991CBC3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4201-1607-7343-9EF0-6449E4849A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p:pic>
        <p:nvPicPr>
          <p:cNvPr id="6146" name="Picture 2" descr="GitHub (@github) / Twitter">
            <a:extLst>
              <a:ext uri="{FF2B5EF4-FFF2-40B4-BE49-F238E27FC236}">
                <a16:creationId xmlns:a16="http://schemas.microsoft.com/office/drawing/2014/main" id="{3F10A200-A9DB-B447-91C6-6E8C4E63D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916" y="93665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44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3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02/02/2022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Tic-Tac-Toe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5799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358</Words>
  <Application>Microsoft Macintosh PowerPoint</Application>
  <PresentationFormat>A4 Paper (210x297 mm)</PresentationFormat>
  <Paragraphs>79</Paragraphs>
  <Slides>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Garamond</vt:lpstr>
      <vt:lpstr>Times New Roman</vt:lpstr>
      <vt:lpstr>Verdana</vt:lpstr>
      <vt:lpstr>Wingdings</vt:lpstr>
      <vt:lpstr>Default Design</vt:lpstr>
      <vt:lpstr>1_Default Design</vt:lpstr>
      <vt:lpstr>Tic-Tac-Toe TDD Lab (Optional)</vt:lpstr>
      <vt:lpstr>Plan for Session</vt:lpstr>
      <vt:lpstr>Tic-Tac-Toe Kata</vt:lpstr>
      <vt:lpstr>Tic-Tac-Toe Lab</vt:lpstr>
      <vt:lpstr>Things to Note</vt:lpstr>
      <vt:lpstr>Things to Note</vt:lpstr>
      <vt:lpstr>Worked Example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</dc:creator>
  <cp:lastModifiedBy>Kevin Cunningham</cp:lastModifiedBy>
  <cp:revision>131</cp:revision>
  <cp:lastPrinted>2020-10-27T16:10:47Z</cp:lastPrinted>
  <dcterms:modified xsi:type="dcterms:W3CDTF">2026-03-26T08:58:47Z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2026-03-26T08:58:46Z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9788c0bb-1465-4d60-9875-9108a82701c0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